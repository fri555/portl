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8442a281ea40ee" /><Relationship Type="http://schemas.openxmlformats.org/officeDocument/2006/relationships/extended-properties" Target="/docProps/app.xml" Id="R9a818eef0c0c47d5" /><Relationship Type="http://schemas.openxmlformats.org/officeDocument/2006/relationships/officeDocument" Target="/ppt/presentation.xml" Id="R9c8aefb8aa344f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eaa36c16764e04"/>
  </p:sldMasterIdLst>
  <p:notesMasterIdLst>
    <p:notesMasterId xmlns:r="http://schemas.openxmlformats.org/officeDocument/2006/relationships" r:id="R9ab0d798e9a94234"/>
  </p:notesMasterIdLst>
  <p:sldIdLst>
    <p:sldId xmlns:r="http://schemas.openxmlformats.org/officeDocument/2006/relationships" id="256" r:id="Re5d59dc86dda4ff2"/>
    <p:sldId xmlns:r="http://schemas.openxmlformats.org/officeDocument/2006/relationships" id="257" r:id="R82a3dd353662416d"/>
    <p:sldId xmlns:r="http://schemas.openxmlformats.org/officeDocument/2006/relationships" id="258" r:id="Raf513b2525574eda"/>
    <p:sldId xmlns:r="http://schemas.openxmlformats.org/officeDocument/2006/relationships" id="259" r:id="R6c858af5e90a436b"/>
    <p:sldId xmlns:r="http://schemas.openxmlformats.org/officeDocument/2006/relationships" id="260" r:id="R2a1be0cb75e144f1"/>
    <p:sldId xmlns:r="http://schemas.openxmlformats.org/officeDocument/2006/relationships" id="261" r:id="R2430316ea10b4317"/>
    <p:sldId xmlns:r="http://schemas.openxmlformats.org/officeDocument/2006/relationships" id="262" r:id="R75f901576e274ae7"/>
    <p:sldId xmlns:r="http://schemas.openxmlformats.org/officeDocument/2006/relationships" id="263" r:id="R5c15e741be634e45"/>
    <p:sldId xmlns:r="http://schemas.openxmlformats.org/officeDocument/2006/relationships" id="264" r:id="R191da4b7a2724fc9"/>
    <p:sldId xmlns:r="http://schemas.openxmlformats.org/officeDocument/2006/relationships" id="265" r:id="R3d48d54e3191455b"/>
    <p:sldId xmlns:r="http://schemas.openxmlformats.org/officeDocument/2006/relationships" id="266" r:id="R1d9a8abcb62f4d1d"/>
    <p:sldId xmlns:r="http://schemas.openxmlformats.org/officeDocument/2006/relationships" id="267" r:id="Rdf92e68c4ff742df"/>
    <p:sldId xmlns:r="http://schemas.openxmlformats.org/officeDocument/2006/relationships" id="268" r:id="Rb0a4fecd9e6147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68b3e057dd4658" /><Relationship Type="http://schemas.openxmlformats.org/officeDocument/2006/relationships/slideMaster" Target="/ppt/slideMasters/slideMaster1.xml" Id="R83eaa36c16764e04" /><Relationship Type="http://schemas.openxmlformats.org/officeDocument/2006/relationships/notesMaster" Target="/ppt/notesMasters/notesMaster1.xml" Id="R9ab0d798e9a94234" /><Relationship Type="http://schemas.openxmlformats.org/officeDocument/2006/relationships/presProps" Target="/ppt/presProps.xml" Id="R876521df55ac4347" /><Relationship Type="http://schemas.openxmlformats.org/officeDocument/2006/relationships/tableStyles" Target="/ppt/tableStyles.xml" Id="R02588dbdd4824647" /><Relationship Type="http://schemas.openxmlformats.org/officeDocument/2006/relationships/slide" Target="/ppt/slides/slide1.xml" Id="Re5d59dc86dda4ff2" /><Relationship Type="http://schemas.openxmlformats.org/officeDocument/2006/relationships/slide" Target="/ppt/slides/slide2.xml" Id="R82a3dd353662416d" /><Relationship Type="http://schemas.openxmlformats.org/officeDocument/2006/relationships/slide" Target="/ppt/slides/slide3.xml" Id="Raf513b2525574eda" /><Relationship Type="http://schemas.openxmlformats.org/officeDocument/2006/relationships/slide" Target="/ppt/slides/slide4.xml" Id="R6c858af5e90a436b" /><Relationship Type="http://schemas.openxmlformats.org/officeDocument/2006/relationships/slide" Target="/ppt/slides/slide5.xml" Id="R2a1be0cb75e144f1" /><Relationship Type="http://schemas.openxmlformats.org/officeDocument/2006/relationships/slide" Target="/ppt/slides/slide6.xml" Id="R2430316ea10b4317" /><Relationship Type="http://schemas.openxmlformats.org/officeDocument/2006/relationships/slide" Target="/ppt/slides/slide7.xml" Id="R75f901576e274ae7" /><Relationship Type="http://schemas.openxmlformats.org/officeDocument/2006/relationships/slide" Target="/ppt/slides/slide8.xml" Id="R5c15e741be634e45" /><Relationship Type="http://schemas.openxmlformats.org/officeDocument/2006/relationships/slide" Target="/ppt/slides/slide9.xml" Id="R191da4b7a2724fc9" /><Relationship Type="http://schemas.openxmlformats.org/officeDocument/2006/relationships/slide" Target="/ppt/slides/slide10.xml" Id="R3d48d54e3191455b" /><Relationship Type="http://schemas.openxmlformats.org/officeDocument/2006/relationships/slide" Target="/ppt/slides/slide11.xml" Id="R1d9a8abcb62f4d1d" /><Relationship Type="http://schemas.openxmlformats.org/officeDocument/2006/relationships/slide" Target="/ppt/slides/slide12.xml" Id="Rdf92e68c4ff742df" /><Relationship Type="http://schemas.openxmlformats.org/officeDocument/2006/relationships/slide" Target="/ppt/slides/slide13.xml" Id="Rb0a4fecd9e6147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330357a43f45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124a723b9e4aed" /><Relationship Type="http://schemas.openxmlformats.org/officeDocument/2006/relationships/notesMaster" Target="/ppt/notesMasters/notesMaster1.xml" Id="R31ea04c696c840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10208bd9834806" /><Relationship Type="http://schemas.openxmlformats.org/officeDocument/2006/relationships/notesMaster" Target="/ppt/notesMasters/notesMaster1.xml" Id="R91156f158e4840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975012f4564202" /><Relationship Type="http://schemas.openxmlformats.org/officeDocument/2006/relationships/notesMaster" Target="/ppt/notesMasters/notesMaster1.xml" Id="R81b32da916004c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e9a29f058b48d4" /><Relationship Type="http://schemas.openxmlformats.org/officeDocument/2006/relationships/notesMaster" Target="/ppt/notesMasters/notesMaster1.xml" Id="R86513bc1438a4f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22c32974024266" /><Relationship Type="http://schemas.openxmlformats.org/officeDocument/2006/relationships/notesMaster" Target="/ppt/notesMasters/notesMaster1.xml" Id="Rdd7a7755bc0042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be0d6251ef47df" /><Relationship Type="http://schemas.openxmlformats.org/officeDocument/2006/relationships/notesMaster" Target="/ppt/notesMasters/notesMaster1.xml" Id="R6c99641642db4e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b484f5482d4fa4" /><Relationship Type="http://schemas.openxmlformats.org/officeDocument/2006/relationships/notesMaster" Target="/ppt/notesMasters/notesMaster1.xml" Id="R23c2681968a94e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4d8ababc0b4664" /><Relationship Type="http://schemas.openxmlformats.org/officeDocument/2006/relationships/notesMaster" Target="/ppt/notesMasters/notesMaster1.xml" Id="R54511177282b49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634784ee42453b" /><Relationship Type="http://schemas.openxmlformats.org/officeDocument/2006/relationships/notesMaster" Target="/ppt/notesMasters/notesMaster1.xml" Id="Red72173cc72447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c0773d32884d1a" /><Relationship Type="http://schemas.openxmlformats.org/officeDocument/2006/relationships/notesMaster" Target="/ppt/notesMasters/notesMaster1.xml" Id="R945d043c8dff4b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479569c5f4405e" /><Relationship Type="http://schemas.openxmlformats.org/officeDocument/2006/relationships/notesMaster" Target="/ppt/notesMasters/notesMaster1.xml" Id="R05240b0451524c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93ec818f0c44a0" /><Relationship Type="http://schemas.openxmlformats.org/officeDocument/2006/relationships/notesMaster" Target="/ppt/notesMasters/notesMaster1.xml" Id="Ra718acae6c064a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d356375ee545f2" /><Relationship Type="http://schemas.openxmlformats.org/officeDocument/2006/relationships/notesMaster" Target="/ppt/notesMasters/notesMaster1.xml" Id="R9fa698ff0bb24e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【建议时长：2分钟】</a:t>
            </a:r>
          </a:p>
          <a:p xmlns:a="http://schemas.openxmlformats.org/drawingml/2006/main">
            <a:r>
              <a:t>大家好，今天我们一起熟悉天马智擎第一版。培训覆盖四个入口：首页对话、工作台、仪表盘和知识中心。我们不仅要学会按钮在哪里，还要知道怎样安全、有效地使用，并用真实反馈推动下一版迭代。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天马智擎测试环境首页截图，2026-08-03。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【建议时长：2分钟】</a:t>
            </a:r>
          </a:p>
          <a:p xmlns:a="http://schemas.openxmlformats.org/drawingml/2006/main">
            <a:r>
              <a:t>今天的目标是会用、用好、敢反馈。请大家记住一个自己最想尝试的真实工作场景，培训后完成一次低风险练习。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【建议时长：4分钟】</a:t>
            </a:r>
          </a:p>
          <a:p xmlns:a="http://schemas.openxmlformats.org/drawingml/2006/main">
            <a:r>
              <a:t>为什么要自研？第一是降低数据外部流转风险；第二是逐步打通内部系统；第三是按天马真实业务优先级持续迭代。必须强调：内部平台不等于任何敏感数据都可以上传，原有安全规则仍然有效。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【建议时长：3分钟】</a:t>
            </a:r>
          </a:p>
          <a:p xmlns:a="http://schemas.openxmlformats.org/drawingml/2006/main">
            <a:r>
              <a:t>四个入口分别对应产出、办理、判断和知识复用。实际使用时先判断任务类型，再选择入口。仪表盘补上了经营观察这一环。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【建议时长：5分钟，配合现场演示】</a:t>
            </a:r>
          </a:p>
          <a:p xmlns:a="http://schemas.openxmlformats.org/drawingml/2006/main">
            <a:r>
              <a:t>输入区可选择日常办公与联网查询，左侧加号添加附件，快捷卡片可发消息、建待办、建日程、查日程、查知识库和网络查询。演示一个低风险示例，并强调输出需要继续追问和人工复核。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天马智擎测试环境首页截图，2026-08-03。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【建议时长：4分钟】</a:t>
            </a:r>
          </a:p>
          <a:p xmlns:a="http://schemas.openxmlformats.org/drawingml/2006/main">
            <a:r>
              <a:t>用背景、任务、要求、格式四要素改写一条模糊提示词。结果不理想时，可以继续提出保留、删除、改写等具体要求，不需要每次从头开始。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【建议时长：3分钟】</a:t>
            </a:r>
          </a:p>
          <a:p xmlns:a="http://schemas.openxmlformats.org/drawingml/2006/main">
            <a:r>
              <a:t>工作台是企业系统统一入口。当前测试账号显示暂无可用业务系统，这属于权限或配置状态，不代表功能不存在。排查时先刷新，再核对账号和授权。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天马智擎测试环境工作台截图，2026-08-03。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【建议时长：4分钟，配合现场演示】</a:t>
            </a:r>
          </a:p>
          <a:p xmlns:a="http://schemas.openxmlformats.org/drawingml/2006/main">
            <a:r>
              <a:t>仪表盘当前展示财务指标。先选事业部和日期，再看当前值，结合同比与环比观察变化。上升或下降不天然代表好坏，需要结合指标定义与业务背景。仪表盘用于发现信号，不替代正式财务结算、审批或经营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天马智擎测试环境财务指标仪表盘截图，2026-08-03。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【建议时长：5分钟】</a:t>
            </a:r>
          </a:p>
          <a:p xmlns:a="http://schemas.openxmlformats.org/drawingml/2006/main">
            <a:r>
              <a:t>知识中心主要操作是上传文件、新建文件夹和小智问答。上传前确认公共或个人空间、文件归属和共享范围；重要回答必须回到权威原文核验。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天马智擎测试环境知识中心截图，2026-08-03。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【建议时长：3分钟】</a:t>
            </a:r>
          </a:p>
          <a:p xmlns:a="http://schemas.openxmlformats.org/drawingml/2006/main">
            <a:r>
              <a:t>完整知识闭环是整理、上传、提问、复核。知识库要逐步明确所有者和更新机制；资料过期、重复或权限错误会直接影响问答结果。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【建议时长：3分钟】</a:t>
            </a:r>
          </a:p>
          <a:p xmlns:a="http://schemas.openxmlformats.org/drawingml/2006/main">
            <a:r>
              <a:t>平台是效率工具，不替代业务判断和责任。四个不要必须讲清楚：不越权上传、不把回答当结论、不未经复核外发、不用模糊抱怨代替具体反馈。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【建议时长：3分钟】</a:t>
            </a:r>
          </a:p>
          <a:p xmlns:a="http://schemas.openxmlformats.org/drawingml/2006/main">
            <a:r>
              <a:t>第一版在能力、体验和系统覆盖上还会有不完善。高质量反馈请包含场景、步骤、期望、实际、时间和截图；建议还要说明业务价值和优先级。也欢迎提交优秀案例。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【建议时长：2分钟】</a:t>
            </a:r>
          </a:p>
          <a:p xmlns:a="http://schemas.openxmlformats.org/drawingml/2006/main">
            <a:r>
              <a:t>请大家完成三个动作：发起一次低风险对话；检查工作台权限并在仪表盘读懂一个指标；在知识中心完成一次检索并回看原文。第一版的价值靠真实使用验证，下一版的方向靠大家反馈决定。谢谢大家，进入现场练习和答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18c8b3bcf047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f31958d6924570" /><Relationship Type="http://schemas.openxmlformats.org/officeDocument/2006/relationships/slideLayout" Target="/ppt/slideLayouts/slideLayout1.xml" Id="R69726482d19b4f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726482d19b4f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9aa15ec584032" /><Relationship Type="http://schemas.openxmlformats.org/officeDocument/2006/relationships/image" Target="/ppt/media/image.jpeg" Id="Rcc1b818b7f234067" /><Relationship Type="http://schemas.openxmlformats.org/officeDocument/2006/relationships/notesSlide" Target="/ppt/notesSlides/notesSlide1.xml" Id="R09198fdfe87640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362ad41c442d2" /><Relationship Type="http://schemas.openxmlformats.org/officeDocument/2006/relationships/notesSlide" Target="/ppt/notesSlides/notesSlide2.xml" Id="R097e755291d14c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5a33c2fda4c1d" /><Relationship Type="http://schemas.openxmlformats.org/officeDocument/2006/relationships/notesSlide" Target="/ppt/notesSlides/notesSlide3.xml" Id="Rdfd0fb060f7a41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91207d0e94068" /><Relationship Type="http://schemas.openxmlformats.org/officeDocument/2006/relationships/notesSlide" Target="/ppt/notesSlides/notesSlide4.xml" Id="R2bf49efe32a347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6cd1313e14e58" /><Relationship Type="http://schemas.openxmlformats.org/officeDocument/2006/relationships/image" Target="/ppt/media/image2.jpeg" Id="R9826ded3f6d04241" /><Relationship Type="http://schemas.openxmlformats.org/officeDocument/2006/relationships/notesSlide" Target="/ppt/notesSlides/notesSlide5.xml" Id="Rdc7c07230e6449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79d74f14a4c81" /><Relationship Type="http://schemas.openxmlformats.org/officeDocument/2006/relationships/notesSlide" Target="/ppt/notesSlides/notesSlide6.xml" Id="Rff76882eec1b42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d913a1c9045db" /><Relationship Type="http://schemas.openxmlformats.org/officeDocument/2006/relationships/image" Target="/ppt/media/image3.jpeg" Id="R9deba28ec4df4124" /><Relationship Type="http://schemas.openxmlformats.org/officeDocument/2006/relationships/notesSlide" Target="/ppt/notesSlides/notesSlide7.xml" Id="R1f0a80a54c424a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4c7c1937141c9" /><Relationship Type="http://schemas.openxmlformats.org/officeDocument/2006/relationships/image" Target="/ppt/media/image4.jpeg" Id="R60e8d137029c438d" /><Relationship Type="http://schemas.openxmlformats.org/officeDocument/2006/relationships/notesSlide" Target="/ppt/notesSlides/notesSlide8.xml" Id="R3c56e71196ab4d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dc2790f9d4236" /><Relationship Type="http://schemas.openxmlformats.org/officeDocument/2006/relationships/image" Target="/ppt/media/image5.jpeg" Id="Rb84db8dc6da34563" /><Relationship Type="http://schemas.openxmlformats.org/officeDocument/2006/relationships/notesSlide" Target="/ppt/notesSlides/notesSlide9.xml" Id="Rdbcc59861d7244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ff57fda744d68" /><Relationship Type="http://schemas.openxmlformats.org/officeDocument/2006/relationships/notesSlide" Target="/ppt/notesSlides/notesSlide10.xml" Id="R917ab74fbe774a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8f65607944961" /><Relationship Type="http://schemas.openxmlformats.org/officeDocument/2006/relationships/notesSlide" Target="/ppt/notesSlides/notesSlide11.xml" Id="Rfd61c31b2a7247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db8e13eba4f5f" /><Relationship Type="http://schemas.openxmlformats.org/officeDocument/2006/relationships/notesSlide" Target="/ppt/notesSlides/notesSlide12.xml" Id="Rd1b02e625bd04f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50922ed954419" /><Relationship Type="http://schemas.openxmlformats.org/officeDocument/2006/relationships/notesSlide" Target="/ppt/notesSlides/notesSlide13.xml" Id="R2836e386797d46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03848-5703-409A-9191-AEA26BE9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5143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8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EBA92-8E27-41FC-B477-FAEFA997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66750"/>
            <a:ext cx="4476750" cy="552450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0E263F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BC809-1154-4FA3-852B-8A6E5684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809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B4F74-6AF3-4CA0-9B4C-69C29907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809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B7DCF-2787-4854-9B35-9646C6D0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09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17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b818b7f234067"/>
          <a:stretch xmlns:a="http://schemas.openxmlformats.org/drawingml/2006/main"/>
        </p:blipFill>
        <p:spPr>
          <a:xfrm xmlns:a="http://schemas.openxmlformats.org/drawingml/2006/main">
            <a:off x="7334250" y="1377683"/>
            <a:ext cx="4286250" cy="433123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85D6C-31FA-412C-952D-7124C19B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D6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D6FF"/>
                </a:solidFill>
                <a:latin typeface="PingFang SC"/>
                <a:ea typeface="PingFang SC"/>
                <a:cs typeface="PingFang SC"/>
              </a:rPr>
              <a:t>TIANMA INTELLIGENCE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92116-2BBE-479A-A453-4B644B6F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天马智擎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6F10C-8AD4-4555-B895-FBE5520F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905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 AI 真正进入我们的工作流程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8EB2B-3379-401D-A44F-1A1B27A6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5D6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55D6FF"/>
                </a:solidFill>
                <a:latin typeface="PingFang SC"/>
                <a:ea typeface="PingFang SC"/>
                <a:cs typeface="PingFang SC"/>
              </a:rPr>
              <a:t>首页对话 · 工作台 · 仪表盘 · 知识中心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609600" y="45910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76BFF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BB998-D511-4101-9814-B1A803FF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0D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AFC0D2"/>
                </a:solidFill>
                <a:latin typeface="PingFang SC"/>
                <a:ea typeface="PingFang SC"/>
                <a:cs typeface="PingFang SC"/>
              </a:rPr>
              <a:t>V1.0 上线培训｜下周发布前会读与实操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992A6-F28A-43CB-877B-D1DCADDC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88A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F88A4"/>
                </a:solidFill>
                <a:latin typeface="PingFang SC"/>
                <a:ea typeface="PingFang SC"/>
                <a:cs typeface="PingFang SC"/>
              </a:rPr>
              <a:t>内部培训资料</a:t>
            </a:r>
          </a:p>
        </p:txBody>
      </p:sp>
    </p:spTree>
    <p:extLst>
      <p:ext uri="{BB962C8B-B14F-4D97-AF65-F5344CB8AC3E}">
        <p14:creationId xmlns:p14="http://schemas.microsoft.com/office/powerpoint/2010/main" val="6056658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F9763D-1059-4F96-B9CE-D4ADCC71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6BFF"/>
                </a:solidFill>
                <a:latin typeface="PingFang SC"/>
                <a:ea typeface="PingFang SC"/>
                <a:cs typeface="PingFang SC"/>
              </a:rPr>
              <a:t>TRAINING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04765-84B3-4C35-B418-11AA3544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今天带走三件事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BAFAA-1646-4F62-B184-9A225BA1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7C3C0-F2E1-4854-AC09-D7EE769C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9AF25-A949-4D0A-96EA-03BE9BAD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会用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14879-8128-45B6-913F-AF3A4C6F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知道四个入口各自解决什么问题，并能独立完成一次操作。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B0092-82E7-448B-AB82-E34360A6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52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B8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B88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7D4EE-07A2-4D4C-A8ED-64091B75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955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用好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E74DD-C77B-4776-8324-99968DB2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33675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把任务说清楚、把指标读正确、把关键结果复核到位。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FFF84-DD66-4C88-82C3-3AA47191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52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0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B02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E6479F-AA04-43BD-85A5-A6FECB07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955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敢反馈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B27DA-14F1-4EDB-97ED-4B626ABB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33675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接受第一版的不完善，提交具体、可复现、可行动的建议。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609600" y="42862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E3EC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CB5767-A5EA-4651-9285-7A181096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BFF"/>
                </a:solidFill>
                <a:latin typeface="PingFang SC"/>
                <a:ea typeface="PingFang SC"/>
                <a:cs typeface="PingFang SC"/>
              </a:rPr>
              <a:t>培训结束后的最低成果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D4710E-7571-4037-8DA2-7D91E4FE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发起一次有效对话　·　检查一次系统权限　·　读懂一个指标　·　完成一次知识检索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C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45DCD3-CA1D-4025-9F0B-BF367909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天马智擎 · 内部培训 V1.0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B9B9F-8613-4AF7-B29A-C3A7B6F9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843873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E64CA3-D281-4599-8A77-8C3C43CA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D6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D6FF"/>
                </a:solidFill>
                <a:latin typeface="PingFang SC"/>
                <a:ea typeface="PingFang SC"/>
                <a:cs typeface="PingFang SC"/>
              </a:rPr>
              <a:t>WHY WE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0555C-FFCE-47A3-996C-F38D73A2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自研的价值，是让智能能力进入企业可控边界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05E9C-BB27-41F8-9C47-0BD4312A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4B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FA4BD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7CC2F-B319-4B33-B36C-CDB65B61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D6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5D6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C10AF-04E7-4F4E-B141-4975C7CD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守住数据边界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3B6A0-8CB6-4754-9C05-E330BC6E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FC0D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FC0D2"/>
                </a:solidFill>
                <a:latin typeface="PingFang SC"/>
                <a:ea typeface="PingFang SC"/>
                <a:cs typeface="PingFang SC"/>
              </a:rPr>
              <a:t>减少业务数据在外部工具之间流转，结合公司身份、权限、审计与治理要求使用。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ED626-F6CF-4B12-816A-B3180017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431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D6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5D6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B03A6-B4E1-4801-BDEA-568E73DD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打通内部系统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7EF04-7CB0-475A-875D-7943AFCA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289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FC0D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FC0D2"/>
                </a:solidFill>
                <a:latin typeface="PingFang SC"/>
                <a:ea typeface="PingFang SC"/>
                <a:cs typeface="PingFang SC"/>
              </a:rPr>
              <a:t>连接办公场景、企业系统与知识资产，让提问、办理、分析和沉淀形成连续链路。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B83B7-9C96-475E-A16B-678F0125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2E4B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A4C4AE-0757-4EDE-8866-B8EA417A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B0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B020"/>
                </a:solidFill>
                <a:latin typeface="PingFang SC"/>
                <a:ea typeface="PingFang SC"/>
                <a:cs typeface="PingFang SC"/>
              </a:rPr>
              <a:t>内部可控 ≠ 可以随意上传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0ADAF-6715-49CE-AA97-91BC2054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577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数据分级、最小权限、保密要求和人工复核责任仍然有效。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25E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776AE-43A6-47AE-B1A3-B8C34C4B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FA4B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FA4BD"/>
                </a:solidFill>
                <a:latin typeface="PingFang SC"/>
                <a:ea typeface="PingFang SC"/>
                <a:cs typeface="PingFang SC"/>
              </a:rPr>
              <a:t>天马智擎 · 内部培训 V1.0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5AB8D3-3BA9-4746-BFED-0CB5BAE3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FA4B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FA4BD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295776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0AFFEF-675A-4AF8-893F-4DF96D09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6BFF"/>
                </a:solidFill>
                <a:latin typeface="PingFang SC"/>
                <a:ea typeface="PingFang SC"/>
                <a:cs typeface="PingFang SC"/>
              </a:rPr>
              <a:t>ONE PLATFORM, FOUR ENTRANCES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93CCF-4398-43E4-AB3C-9EADFEBC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四个入口，串起一条完整工作链路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39009-5C20-4D99-BBEA-786CED40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1028700" y="3048000"/>
            <a:ext cx="8953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CE3E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83C93-8522-4381-8B3A-121E8FD3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12DB4-3381-4947-B56C-4AFFEF7A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241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CB191-9355-4DB0-BC0C-AA72EE88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首页对话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C9762-838D-4F04-AAF0-434A64AE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433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6BFF"/>
                </a:solidFill>
                <a:latin typeface="PingFang SC"/>
                <a:ea typeface="PingFang SC"/>
                <a:cs typeface="PingFang SC"/>
              </a:rPr>
              <a:t>提问与产出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7F6A1-9D5E-49E3-91C8-CF3F61BF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写作、总结、查询、文件处理与办公任务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834A2-3F60-4FC0-BB5F-8254062F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1A069-48B2-47F4-9B87-4B6BCDDE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241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A2C36-6EF7-46E5-9077-348AD2C8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工作台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F09A1-3803-4856-9ABE-626A5CC4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433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B88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B886"/>
                </a:solidFill>
                <a:latin typeface="PingFang SC"/>
                <a:ea typeface="PingFang SC"/>
                <a:cs typeface="PingFang SC"/>
              </a:rPr>
              <a:t>进入与办理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0B0FC-A084-4AE5-A127-C7A7CC80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38600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统一找到已授权的企业系统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09134-2FDF-49F3-9C0C-192852FF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2224FA-11EA-4B1A-BD05-1EBF966B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241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4BB8C-80B4-431F-BF22-0DEF63AA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09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仪表盘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7F14C-F917-4652-B141-A4D99C9B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433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B0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B020"/>
                </a:solidFill>
                <a:latin typeface="PingFang SC"/>
                <a:ea typeface="PingFang SC"/>
                <a:cs typeface="PingFang SC"/>
              </a:rPr>
              <a:t>观察与判断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20068F-F654-4F24-B4F3-F3939E5D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查看经营指标及同比、环比变化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94E884-ED2E-4939-A063-198B9235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D9378C-07B0-47A4-80A5-ECA02BB4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241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D03FAE-28C5-4F57-8581-F18AF4B3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09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知识中心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0B3D31-1A77-4FD5-9019-1F999E2F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433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B5CF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8B5CF6"/>
                </a:solidFill>
                <a:latin typeface="PingFang SC"/>
                <a:ea typeface="PingFang SC"/>
                <a:cs typeface="PingFang SC"/>
              </a:rPr>
              <a:t>沉淀与复用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91EBBA-A722-435B-9CEF-FDA222A2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38600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管理、检索并复用企业知识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A8363A-9222-4E6F-B0C7-E3A1941A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0B38EE-B93F-4C9D-A307-0901503C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先从任务出发，而不是从功能出发：我要产出、办理、判断，还是查知识？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C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444D85-6FA4-43EF-9818-A1ADBF9A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天马智擎 · 内部培训 V1.0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8ABD7F-91E3-40B0-B8A7-CCC925B4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571204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39247D-22C8-4D8B-A92A-EE64328B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6BFF"/>
                </a:solidFill>
                <a:latin typeface="PingFang SC"/>
                <a:ea typeface="PingFang SC"/>
                <a:cs typeface="PingFang SC"/>
              </a:rPr>
              <a:t>01 · HOME CHAT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67753-91CA-491A-BA17-2BD633A2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首页对话：先把任务说清楚，再让小马动手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3DCAD-6E37-4161-8A6D-205C959B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E4164-96E9-437E-8A1E-5C7D2E84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619125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51576-55E3-45F3-BDFB-D86B2FB4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B14CF-A78B-4BE3-B5D6-50E58CFF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43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21FCB-267D-4342-8CA9-A9AAF040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43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17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6ded3f6d04241"/>
          <a:stretch xmlns:a="http://schemas.openxmlformats.org/drawingml/2006/main"/>
        </p:blipFill>
        <p:spPr>
          <a:xfrm xmlns:a="http://schemas.openxmlformats.org/drawingml/2006/main">
            <a:off x="1772879" y="1924050"/>
            <a:ext cx="3864691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2F481-5DFD-49EC-B3C0-76FA7854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6BFF"/>
                </a:solidFill>
                <a:latin typeface="PingFang SC"/>
                <a:ea typeface="PingFang SC"/>
                <a:cs typeface="PingFang SC"/>
              </a:rPr>
              <a:t>操作顺序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E4D5E-ADF6-44C2-B9E1-326E1872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145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C1AC9-6B58-4F77-8189-29FB7C66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574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选场景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C6B11-1FAB-42F3-8BAC-7BFA3EB9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9560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日常办公、联网查询，或直接选择快捷任务。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218F2-6446-41EC-B04C-71A43D48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76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B8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B88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1D082-6F34-4759-B7C2-7353EFBD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195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补材料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D9D9E-9376-4C1B-A10D-842BB4E6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57675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仅上传当前权限范围内确有必要的资料。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327446-7109-4232-91B1-367F5C4B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387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0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B02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60279-CC65-4F97-A7D5-685BEF0E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1816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追问与复核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7C55DE-EC88-4FDF-B960-38BDFF18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6197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重要事实、数字和对外内容必须人工确认。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C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DE0C57-E817-4B0A-B662-B390F368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天马智擎 · 内部培训 V1.0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EF374C-E4C6-41B9-AFF4-28BF1421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358088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D0B492-6755-450C-B6AD-A77FB97C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6BFF"/>
                </a:solidFill>
                <a:latin typeface="PingFang SC"/>
                <a:ea typeface="PingFang SC"/>
                <a:cs typeface="PingFang SC"/>
              </a:rPr>
              <a:t>PROMPTING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E4E89-0B12-4B23-BBB3-A1BC6619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好结果通常来自四个信息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29207-D67A-486E-BE43-B9252152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CB34A-5DC3-49F2-867B-7E183769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6B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35190-0C36-4DBF-823E-A65DD4FF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背景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609600" y="2724150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76BF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7E970-70CB-44ED-9867-7EF3AD33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我在做什么</a:t>
            </a:r>
          </a:p>
          <a:p xmlns:a="http://schemas.openxmlformats.org/drawingml/2006/main">
            <a:pPr algn="l">
              <a:defRPr sz="1350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面向谁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570E5-0ADF-4AAB-A5E0-2F253F4F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B88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B88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AB5EE-2145-49C0-AFB9-CEECB3B3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145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任务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3333750" y="2724150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2B88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C1F3F-E956-4563-BCFC-EFA0CDB6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明确动词</a:t>
            </a:r>
          </a:p>
          <a:p xmlns:a="http://schemas.openxmlformats.org/drawingml/2006/main">
            <a:pPr algn="l">
              <a:defRPr sz="1350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总结 / 比较 / 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3BF1A7-3C78-4AAA-9AC6-8278D883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B02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FA9B50-DAA4-426D-89E9-9CC2EEC0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145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要求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6057900" y="2724150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FFB020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F03B3-96CA-465D-AD6D-A03A955E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908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口径、语气</a:t>
            </a:r>
          </a:p>
          <a:p xmlns:a="http://schemas.openxmlformats.org/drawingml/2006/main">
            <a:pPr algn="l">
              <a:defRPr sz="1350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长度与边界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1C4F9-F78B-4C47-BA30-405399F9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14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5CF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8B5CF6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0C4C2-4792-4039-857B-E6922C9D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格式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8782050" y="2724150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8B5CF6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D97FB0-FA86-48F2-9892-B1416A70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908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清单、表格</a:t>
            </a:r>
          </a:p>
          <a:p xmlns:a="http://schemas.openxmlformats.org/drawingml/2006/main">
            <a:pPr algn="l">
              <a:defRPr sz="1350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邮件或行动项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BC9CEF-9546-47E8-8EC8-1E94016D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71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C50591-E163-46F6-A12E-B050242B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D6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5D6FF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571321-C16B-4A15-9BF6-AF70DC97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10363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我正在准备一线同事的上线通知。请基于以下要点改写为 200 字以内的通知，语气清晰友好，包含上线时间、适用范围和反馈方式，并用三段式输出。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C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2092CD-BC32-43C5-8939-19D84ACB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天马智擎 · 内部培训 V1.0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8EAC79-ECF3-418E-A2C8-E857AEDC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054109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F1770-A605-4491-82D4-76ED5A80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D6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D6FF"/>
                </a:solidFill>
                <a:latin typeface="PingFang SC"/>
                <a:ea typeface="PingFang SC"/>
                <a:cs typeface="PingFang SC"/>
              </a:rPr>
              <a:t>02 · WORKBENCH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18C6F-BDD5-4D43-9498-8816CE43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工作台：你看到的入口，由权限决定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C9968-CF35-4982-B0DD-0C0E7E99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4B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FA4BD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B5165-B229-4E64-932A-2F7A880F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667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E263F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8BF0F-D2AB-4A3B-8FBD-53F709A5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89DFB-82C4-42AC-AF36-FA77FBB1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62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A04C6-3426-4F41-8C8D-8CE31A77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62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17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ba28ec4df4124"/>
          <a:stretch xmlns:a="http://schemas.openxmlformats.org/drawingml/2006/main"/>
        </p:blipFill>
        <p:spPr>
          <a:xfrm xmlns:a="http://schemas.openxmlformats.org/drawingml/2006/main">
            <a:off x="2124117" y="1943100"/>
            <a:ext cx="3638465" cy="36766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DC770-C422-4491-B5B3-70262622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526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87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看不到系统，不等于没有系统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74D1F-88EA-4F49-A7C6-C48BBE87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43200"/>
            <a:ext cx="333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FC0D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FC0D2"/>
                </a:solidFill>
                <a:latin typeface="PingFang SC"/>
                <a:ea typeface="PingFang SC"/>
                <a:cs typeface="PingFang SC"/>
              </a:rPr>
              <a:t>先刷新页面，再确认账号与授权范围。仍异常时，提交账号、时间、预期系统和截图。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7848600" y="417195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9425E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73020-7933-43CD-AB81-4F5F4F38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0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B020"/>
                </a:solidFill>
                <a:latin typeface="PingFang SC"/>
                <a:ea typeface="PingFang SC"/>
                <a:cs typeface="PingFang SC"/>
              </a:rPr>
              <a:t>测试账号当前为空；正式环境以实际授权为准。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25E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68D33-843D-4B20-ABDB-838E1EA2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FA4B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FA4BD"/>
                </a:solidFill>
                <a:latin typeface="PingFang SC"/>
                <a:ea typeface="PingFang SC"/>
                <a:cs typeface="PingFang SC"/>
              </a:rPr>
              <a:t>天马智擎 · 内部培训 V1.0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D2D96-2BB2-4992-B950-0616EF0B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FA4B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FA4BD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373207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685C55-5F39-41E3-82FC-51BEF423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6BFF"/>
                </a:solidFill>
                <a:latin typeface="PingFang SC"/>
                <a:ea typeface="PingFang SC"/>
                <a:cs typeface="PingFang SC"/>
              </a:rPr>
              <a:t>03 ·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C2D62-FAA0-48BF-AE75-EFA71103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仪表盘：先筛选，再读数、对比和追溯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9FC7B-7CB7-4788-9162-A9A2B4BA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105F3-0F55-4911-9560-DD94EE64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1912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820FC-CA04-4B71-83C4-61240AA1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E6580-2DDA-422A-91DD-C3FE7050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4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BFBFA-C510-4ABF-AA7D-085032B4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4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17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8d137029c438d"/>
          <a:stretch xmlns:a="http://schemas.openxmlformats.org/drawingml/2006/main"/>
        </p:blipFill>
        <p:spPr>
          <a:xfrm xmlns:a="http://schemas.openxmlformats.org/drawingml/2006/main">
            <a:off x="1697471" y="1828800"/>
            <a:ext cx="4015508" cy="40576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BB822-B9C3-4EA6-8924-BCD1F31F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38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6B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02438-9BF9-4C47-A5D6-0A5E72FD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19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筛选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E8626-0EB6-4805-BA5C-1F9B308D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621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确认事业部与日期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9FFA5-CABE-4BD1-B6D4-F00C368E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67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B88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B88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3AE30-B4B2-41EB-B65F-FD55FA7A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479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读数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7B450-7020-48FC-8279-5BD92E6A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90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看当前值与单位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8C062-951E-4059-B6AE-6B67C9A5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95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B02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951E4-CABC-41CF-B470-F83096A1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76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对比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4ACF0-D870-4778-8BE8-B2BDC76C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19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结合同比和环比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0BB8CA-32DD-49C0-BFD1-03A33CC7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24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5CF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8B5CF6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8F76F2-13F7-482A-9267-2E1ED7CD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05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追溯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55643C-B254-4849-B0B2-297BB9AD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48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回到权威报表核验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783526-C250-4FBE-B9DB-0D20045F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638800"/>
            <a:ext cx="3905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EDD023-60E0-4BC9-A705-8275B9C2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78167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上升 / 下降不等于好 / 坏，必须结合指标口径。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C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73020D-39FE-44DF-8817-C32436FE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天马智擎 · 内部培训 V1.0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C15ADF-ED1E-44BD-AF6A-A5857028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16412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D7B98D-A2D4-4B14-97C2-DE677457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6BFF"/>
                </a:solidFill>
                <a:latin typeface="PingFang SC"/>
                <a:ea typeface="PingFang SC"/>
                <a:cs typeface="PingFang SC"/>
              </a:rPr>
              <a:t>04 ·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6CEBF-3BD2-41D1-B897-893D3E56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知识中心：让资料可管理、可检索、可复用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54D17-9100-40A8-A7F3-2DD05899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6D85D-D317-4BA0-B2A4-C93DC83C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6BFF"/>
                </a:solidFill>
                <a:latin typeface="PingFang SC"/>
                <a:ea typeface="PingFang SC"/>
                <a:cs typeface="PingFang SC"/>
              </a:rPr>
              <a:t>上传文件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CCC46-31F7-4031-8C81-06383AF8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放入正确知识库，确认归属与权限。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BB40F-8BFF-427E-A337-388FA1B9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B88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2B886"/>
                </a:solidFill>
                <a:latin typeface="PingFang SC"/>
                <a:ea typeface="PingFang SC"/>
                <a:cs typeface="PingFang SC"/>
              </a:rPr>
              <a:t>新建文件夹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97C50-969A-434F-B7C0-4E134F1C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按项目、部门或主题建立清晰结构。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F5E67-16AE-4D71-95F0-75A85430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B5CF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8B5CF6"/>
                </a:solidFill>
                <a:latin typeface="PingFang SC"/>
                <a:ea typeface="PingFang SC"/>
                <a:cs typeface="PingFang SC"/>
              </a:rPr>
              <a:t>小智问答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E1464-05E1-4711-9F39-3AEB6339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限定问题范围，关键答案回看原文。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26335-FC53-4E13-934B-94C80B16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4476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FB7C9-D386-44AD-83F8-CC62EF8F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0225"/>
            <a:ext cx="413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公共空间与个人空间的可见范围不同。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83229-4CB5-4DA3-8F29-9B616549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24000"/>
            <a:ext cx="5962650" cy="4572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FEF64F-33A7-4DEC-9800-3560ADCB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66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5737D-DD27-4346-A411-4611196D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66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1AC4F-DB2E-431E-9B43-1A3B89E5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17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db8dc6da34563"/>
          <a:stretch xmlns:a="http://schemas.openxmlformats.org/drawingml/2006/main"/>
        </p:blipFill>
        <p:spPr>
          <a:xfrm xmlns:a="http://schemas.openxmlformats.org/drawingml/2006/main">
            <a:off x="6546191" y="1847850"/>
            <a:ext cx="4109769" cy="4152900"/>
          </a:xfrm>
          <a:prstGeom xmlns:a="http://schemas.openxmlformats.org/drawingml/2006/main" prst="rect">
            <a:avLst/>
          </a:prstGeom>
        </p:spPr>
      </p:pic>
      <p:cxnSp>
        <p:nvCxnSpPr>
          <p:cNvPr id="36" name=""/>
          <p:cNvCxnSpPr/>
          <p:nvPr/>
        </p:nvCxn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C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039C5F-2F0F-458D-9F1D-7C84EE6C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天马智擎 · 内部培训 V1.0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D611A-0E83-4EE8-B9CD-0542E01C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770057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EA1F35-9A74-4550-811A-8C83D768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6BFF"/>
                </a:solidFill>
                <a:latin typeface="PingFang SC"/>
                <a:ea typeface="PingFang SC"/>
                <a:cs typeface="PingFang SC"/>
              </a:rPr>
              <a:t>KNOWLEDGE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7CE1C-4969-4662-87BF-47D8452D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知识质量，决定问答质量的上限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2BC2B-FF05-4577-B8E9-DE5234EC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952500" y="2838450"/>
            <a:ext cx="9334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CE3E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A002E-EA52-4553-8267-8FD2AFEF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5EC4F-E201-46EF-B28E-A8E92F83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F7BC8-DB1F-4501-A127-AD84EB53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D25E2-6E50-47AC-9908-77E40D37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确认密级、所有者</a:t>
            </a:r>
          </a:p>
          <a:p xmlns:a="http://schemas.openxmlformats.org/drawingml/2006/main">
            <a:pPr algn="ctr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共享范围和有效版本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930D0-E876-4297-B3E9-B184A568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336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BA951-87CE-4F21-B5D0-6FC820CD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051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DA037-319A-4B38-8421-803EEA23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上传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139D6-6438-4050-84AE-3E9E21BF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3860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正确知识库与文件夹</a:t>
            </a:r>
          </a:p>
          <a:p xmlns:a="http://schemas.openxmlformats.org/drawingml/2006/main">
            <a:pPr algn="ctr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使用可检索文件名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C5499-94F3-4B31-BE47-C94DF539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336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CB957-7339-445A-AAE0-DF2176F4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051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48D686-C8D2-4E60-B81D-F1CAEC7C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242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提问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24F1C0-C532-49CB-93A9-EC757437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3860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说明主题、时间、对象</a:t>
            </a:r>
          </a:p>
          <a:p xmlns:a="http://schemas.openxmlformats.org/drawingml/2006/main">
            <a:pPr algn="ctr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与希望得到的输出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80D576-DA1C-4F64-BD51-97209D2A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336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72FCA-A03C-4FAF-A663-FEE2355D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E3456D-52DA-4077-8D43-E9FE88E9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242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复核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956217-A9CF-4E21-9C63-4F2B65D9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3860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回到权威原文</a:t>
            </a:r>
          </a:p>
          <a:p xmlns:a="http://schemas.openxmlformats.org/drawingml/2006/main">
            <a:pPr algn="ctr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发现过期内容及时更新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124C76-7788-4CC4-913B-4B381248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C24B0E-5B0E-4CD6-8910-22B4E482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过期、重复、权限错误的资料，会直接影响回答结果。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C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57FBCF-4D71-42DA-82E7-9DFF9285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天马智擎 · 内部培训 V1.0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4307C5-A829-4D31-BE31-F1A75830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888166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A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23E3F-60A2-4457-95DE-60E8E4EE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D6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5D6FF"/>
                </a:solidFill>
                <a:latin typeface="PingFang SC"/>
                <a:ea typeface="PingFang SC"/>
                <a:cs typeface="PingFang SC"/>
              </a:rPr>
              <a:t>RESPONSIBLE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DD1D7-DE74-4615-BA91-442B436F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放心使用，但不要放弃判断与责任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2E7C4-0DD4-4B22-A9DC-101E446B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4B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FA4BD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ADC13-7EF9-40A6-B9CC-148D1F63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5D6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55D6FF"/>
                </a:solidFill>
                <a:latin typeface="PingFang SC"/>
                <a:ea typeface="PingFang SC"/>
                <a:cs typeface="PingFang SC"/>
              </a:rPr>
              <a:t>建议做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F8D79-8BFC-4337-A303-E18E36CA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 用于起草、总结、结构化、检索与方案启发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 上传前确认资料权限和必要性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 核对事实、数字、口径与来源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 对外发布前完成业务与合规审核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3C049-C283-4937-9E47-F5393F98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B0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B020"/>
                </a:solidFill>
                <a:latin typeface="PingFang SC"/>
                <a:ea typeface="PingFang SC"/>
                <a:cs typeface="PingFang SC"/>
              </a:rPr>
              <a:t>不要做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57B4D-949E-49B5-BB02-F1284B50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× 上传无权访问或不应扩散的敏感资料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× 把 AI 回答当成制度、合同或审批结论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× 未经复核直接对外发送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× 用模糊抱怨替代可复现的问题描述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CB14D-E8DC-4753-BFE2-134A466A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2E4B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3CF26-32F7-4D0D-99CE-98415011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05425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5D6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55D6FF"/>
                </a:solidFill>
                <a:latin typeface="PingFang SC"/>
                <a:ea typeface="PingFang SC"/>
                <a:cs typeface="PingFang SC"/>
              </a:rPr>
              <a:t>AI 提效，使用人负责；内部可控，权限边界仍然有效。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25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201882-5753-4010-A3B5-31A62501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FA4B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FA4BD"/>
                </a:solidFill>
                <a:latin typeface="PingFang SC"/>
                <a:ea typeface="PingFang SC"/>
                <a:cs typeface="PingFang SC"/>
              </a:rPr>
              <a:t>天马智擎 · 内部培训 V1.0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5E846-60A3-4D17-8E5B-22696E69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FA4B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FA4BD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031076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1CAD67-F678-4AEF-B82C-A62EE197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6BFF"/>
                </a:solidFill>
                <a:latin typeface="PingFang SC"/>
                <a:ea typeface="PingFang SC"/>
                <a:cs typeface="PingFang SC"/>
              </a:rPr>
              <a:t>V1.0 · FEEDBACK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C343F-90F1-47FD-B203-D1BBB3D7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A2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71A2F"/>
                </a:solidFill>
                <a:latin typeface="PingFang SC"/>
                <a:ea typeface="PingFang SC"/>
                <a:cs typeface="PingFang SC"/>
              </a:rPr>
              <a:t>第一版不怕有问题，怕的是问题无法复现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6649F-D298-46B9-B72E-F681576C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B3F8C-1B32-4195-9BAB-C7564E2E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B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6BFF"/>
                </a:solidFill>
                <a:latin typeface="PingFang SC"/>
                <a:ea typeface="PingFang SC"/>
                <a:cs typeface="PingFang SC"/>
              </a:rPr>
              <a:t>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58C24-7BC4-4BD1-B538-F56E9A8F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812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B88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2B886"/>
                </a:solidFill>
                <a:latin typeface="PingFang SC"/>
                <a:ea typeface="PingFang SC"/>
                <a:cs typeface="PingFang SC"/>
              </a:rPr>
              <a:t>步骤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8A661-DCBF-4FC7-9CAB-BBE5BB2A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812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B0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B020"/>
                </a:solidFill>
                <a:latin typeface="PingFang SC"/>
                <a:ea typeface="PingFang SC"/>
                <a:cs typeface="PingFang SC"/>
              </a:rPr>
              <a:t>期望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4B02A-C915-4F29-86BE-9058B052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812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B5CF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8B5CF6"/>
                </a:solidFill>
                <a:latin typeface="PingFang SC"/>
                <a:ea typeface="PingFang SC"/>
                <a:cs typeface="PingFang SC"/>
              </a:rPr>
              <a:t>实际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FBFEC-F1C1-49AB-A7F7-EF4054B0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812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85D5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E85D5D"/>
                </a:solidFill>
                <a:latin typeface="PingFang SC"/>
                <a:ea typeface="PingFang SC"/>
                <a:cs typeface="PingFang SC"/>
              </a:rPr>
              <a:t>时间 / 截图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609600" y="25717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176BFF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2476500" y="25717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12B886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4343400" y="25717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FFB020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6210300" y="25717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8B5CF6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8077200" y="2571750"/>
            <a:ext cx="32004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E85D5D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5B6B3-E6DA-47C0-B263-09712D26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发生了什么业务任务？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BC7B7-A427-4D33-BC8A-A7186451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5275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从哪里进入，做了什么？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470A6A-3FA9-45A8-86B4-29898BDF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5275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希望系统怎么表现？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D13614-8CA4-418F-B823-DBE32B4D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实际页面或回答是什么？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49A51-9067-4538-9B48-FE453FE9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52750"/>
            <a:ext cx="320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B7A"/>
                </a:solidFill>
                <a:latin typeface="PingFang SC"/>
                <a:ea typeface="PingFang SC"/>
                <a:cs typeface="PingFang SC"/>
              </a:rPr>
              <a:t>提供发生时间、页面截图或会话链接。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7968A4-41D0-4230-AB2F-C36715A7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71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BF958-023A-4D5C-A7CE-D55E0B95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D6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5D6FF"/>
                </a:solidFill>
                <a:latin typeface="PingFang SC"/>
                <a:ea typeface="PingFang SC"/>
                <a:cs typeface="PingFang SC"/>
              </a:rPr>
              <a:t>也欢迎正向反馈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2870E2-01F7-40DB-BE6F-A6012503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有效提示词、节省时间的场景、值得复用的方法，都会成为下一版的优化依据。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C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105A02-7ACD-4E43-AC06-D86CBA9F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天马智擎 · 内部培训 V1.0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A60910-A9B5-4F15-82FB-63BAF925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0B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754351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A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29AC3-406E-4151-B71A-9E9F4844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5D6FF"/>
                </a:solidFill>
                <a:latin typeface="PingFang SC"/>
                <a:ea typeface="PingFang SC"/>
                <a:cs typeface="PingFang SC"/>
              </a:rPr>
              <a:t>从今天开始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BDBE2-3AE9-4F14-9B8B-CB5E36AB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905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用一次</a:t>
            </a:r>
          </a:p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反馈一次</a:t>
            </a:r>
          </a:p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共同优化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609600" y="44958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176BF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92E60-B5F6-4421-8CDB-A575542B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DE8F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DDE8F4"/>
                </a:solidFill>
                <a:latin typeface="PingFang SC"/>
                <a:ea typeface="PingFang SC"/>
                <a:cs typeface="PingFang SC"/>
              </a:rPr>
              <a:t>01  完成一次真实但低风险的首页对话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4B3FB-21E5-40EC-86AC-A643FFE9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DE8F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DDE8F4"/>
                </a:solidFill>
                <a:latin typeface="PingFang SC"/>
                <a:ea typeface="PingFang SC"/>
                <a:cs typeface="PingFang SC"/>
              </a:rPr>
              <a:t>02  检查工作台权限，并在仪表盘读懂一个指标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4176C-548A-4EF2-B644-E06B5D36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DE8F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DDE8F4"/>
                </a:solidFill>
                <a:latin typeface="PingFang SC"/>
                <a:ea typeface="PingFang SC"/>
                <a:cs typeface="PingFang SC"/>
              </a:rPr>
              <a:t>03  在知识中心完成一次检索并回看原文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094EE-914E-432D-90C3-8F8E8B70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952500"/>
            <a:ext cx="3505200" cy="466725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112E4B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215AB-E691-4256-918E-B54B78EC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4478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55D6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55D6FF"/>
                </a:solidFill>
                <a:latin typeface="PingFang SC"/>
                <a:ea typeface="PingFang SC"/>
                <a:cs typeface="PingFang SC"/>
              </a:rPr>
              <a:t>V1.0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89C44-7E92-4CE4-BE31-0DB72087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28900"/>
            <a:ext cx="257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真实使用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产生真实反馈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推动真实迭代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2B42A-F5BE-4C15-AE3E-2B6EC0A3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57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FA4B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FA4BD"/>
                </a:solidFill>
                <a:latin typeface="PingFang SC"/>
                <a:ea typeface="PingFang SC"/>
                <a:cs typeface="PingFang SC"/>
              </a:rPr>
              <a:t>谢谢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25E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ACC0D-191D-42AA-9DBF-5A686E60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FA4B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FA4BD"/>
                </a:solidFill>
                <a:latin typeface="PingFang SC"/>
                <a:ea typeface="PingFang SC"/>
                <a:cs typeface="PingFang SC"/>
              </a:rPr>
              <a:t>天马智擎 · 内部培训 V1.0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A85B3-45AE-4785-906F-39C29827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FA4B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FA4BD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16343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2026-08-03T10:30:31.2600000Z</dcterms:created>
  <dcterms:modified xsi:type="dcterms:W3CDTF">2026-08-03T10:30:31.2600000Z</dcterms:modified>
</coreProperties>
</file>