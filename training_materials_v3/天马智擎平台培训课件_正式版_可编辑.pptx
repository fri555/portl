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cac0cccff4149" /><Relationship Type="http://schemas.openxmlformats.org/officeDocument/2006/relationships/extended-properties" Target="/docProps/app.xml" Id="R19d8c97d394b4a68" /><Relationship Type="http://schemas.openxmlformats.org/officeDocument/2006/relationships/officeDocument" Target="/ppt/presentation.xml" Id="R50dc76e85d36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ba3759583844dd"/>
  </p:sldMasterIdLst>
  <p:notesMasterIdLst>
    <p:notesMasterId xmlns:r="http://schemas.openxmlformats.org/officeDocument/2006/relationships" r:id="R60067234ccc24843"/>
  </p:notesMasterIdLst>
  <p:sldIdLst>
    <p:sldId xmlns:r="http://schemas.openxmlformats.org/officeDocument/2006/relationships" id="256" r:id="Rda1199e5e60c4a7b"/>
    <p:sldId xmlns:r="http://schemas.openxmlformats.org/officeDocument/2006/relationships" id="257" r:id="Rc1edea45d7c34c70"/>
    <p:sldId xmlns:r="http://schemas.openxmlformats.org/officeDocument/2006/relationships" id="258" r:id="R71faf734ca4e4f6c"/>
    <p:sldId xmlns:r="http://schemas.openxmlformats.org/officeDocument/2006/relationships" id="259" r:id="Rbb75dfd147c4430e"/>
    <p:sldId xmlns:r="http://schemas.openxmlformats.org/officeDocument/2006/relationships" id="260" r:id="Rdfd39955f49d4e11"/>
    <p:sldId xmlns:r="http://schemas.openxmlformats.org/officeDocument/2006/relationships" id="261" r:id="R8f6bd451fba2434f"/>
    <p:sldId xmlns:r="http://schemas.openxmlformats.org/officeDocument/2006/relationships" id="262" r:id="R5ef39b46bcb14eff"/>
    <p:sldId xmlns:r="http://schemas.openxmlformats.org/officeDocument/2006/relationships" id="263" r:id="R1bea8951f2ac4a97"/>
    <p:sldId xmlns:r="http://schemas.openxmlformats.org/officeDocument/2006/relationships" id="264" r:id="Rc0c4ee01667e443d"/>
    <p:sldId xmlns:r="http://schemas.openxmlformats.org/officeDocument/2006/relationships" id="265" r:id="R94c69639192e4d78"/>
    <p:sldId xmlns:r="http://schemas.openxmlformats.org/officeDocument/2006/relationships" id="266" r:id="R912e9f00b43f4b27"/>
    <p:sldId xmlns:r="http://schemas.openxmlformats.org/officeDocument/2006/relationships" id="267" r:id="R5c838f8bcaa64389"/>
    <p:sldId xmlns:r="http://schemas.openxmlformats.org/officeDocument/2006/relationships" id="268" r:id="R30297e68e3b34ccd"/>
    <p:sldId xmlns:r="http://schemas.openxmlformats.org/officeDocument/2006/relationships" id="269" r:id="R8f2a748a99e14d30"/>
    <p:sldId xmlns:r="http://schemas.openxmlformats.org/officeDocument/2006/relationships" id="270" r:id="Rc721a1da0ec54a7d"/>
    <p:sldId xmlns:r="http://schemas.openxmlformats.org/officeDocument/2006/relationships" id="271" r:id="R296817a5527740f3"/>
    <p:sldId xmlns:r="http://schemas.openxmlformats.org/officeDocument/2006/relationships" id="272" r:id="Raedac3305b7140bd"/>
    <p:sldId xmlns:r="http://schemas.openxmlformats.org/officeDocument/2006/relationships" id="273" r:id="Read6b5a525914968"/>
    <p:sldId xmlns:r="http://schemas.openxmlformats.org/officeDocument/2006/relationships" id="274" r:id="Rf346b2677ec74df0"/>
    <p:sldId xmlns:r="http://schemas.openxmlformats.org/officeDocument/2006/relationships" id="275" r:id="R12f15a2a66c74b80"/>
    <p:sldId xmlns:r="http://schemas.openxmlformats.org/officeDocument/2006/relationships" id="276" r:id="Rac2234da561c4fb6"/>
    <p:sldId xmlns:r="http://schemas.openxmlformats.org/officeDocument/2006/relationships" id="277" r:id="R89677ad0462f4830"/>
    <p:sldId xmlns:r="http://schemas.openxmlformats.org/officeDocument/2006/relationships" id="278" r:id="R21aa106040154c9c"/>
    <p:sldId xmlns:r="http://schemas.openxmlformats.org/officeDocument/2006/relationships" id="279" r:id="Rcf402b5954224369"/>
    <p:sldId xmlns:r="http://schemas.openxmlformats.org/officeDocument/2006/relationships" id="280" r:id="Red4840b32528403d"/>
    <p:sldId xmlns:r="http://schemas.openxmlformats.org/officeDocument/2006/relationships" id="281" r:id="Re3bf5ec122224a8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aa9e7e2ee44adb" /><Relationship Type="http://schemas.openxmlformats.org/officeDocument/2006/relationships/slideMaster" Target="/ppt/slideMasters/slideMaster1.xml" Id="R68ba3759583844dd" /><Relationship Type="http://schemas.openxmlformats.org/officeDocument/2006/relationships/notesMaster" Target="/ppt/notesMasters/notesMaster1.xml" Id="R60067234ccc24843" /><Relationship Type="http://schemas.openxmlformats.org/officeDocument/2006/relationships/presProps" Target="/ppt/presProps.xml" Id="R9cb261152b4f4f01" /><Relationship Type="http://schemas.openxmlformats.org/officeDocument/2006/relationships/tableStyles" Target="/ppt/tableStyles.xml" Id="Rd5d1549bd14f4c61" /><Relationship Type="http://schemas.openxmlformats.org/officeDocument/2006/relationships/slide" Target="/ppt/slides/slide1.xml" Id="Rda1199e5e60c4a7b" /><Relationship Type="http://schemas.openxmlformats.org/officeDocument/2006/relationships/slide" Target="/ppt/slides/slide2.xml" Id="Rc1edea45d7c34c70" /><Relationship Type="http://schemas.openxmlformats.org/officeDocument/2006/relationships/slide" Target="/ppt/slides/slide3.xml" Id="R71faf734ca4e4f6c" /><Relationship Type="http://schemas.openxmlformats.org/officeDocument/2006/relationships/slide" Target="/ppt/slides/slide4.xml" Id="Rbb75dfd147c4430e" /><Relationship Type="http://schemas.openxmlformats.org/officeDocument/2006/relationships/slide" Target="/ppt/slides/slide5.xml" Id="Rdfd39955f49d4e11" /><Relationship Type="http://schemas.openxmlformats.org/officeDocument/2006/relationships/slide" Target="/ppt/slides/slide6.xml" Id="R8f6bd451fba2434f" /><Relationship Type="http://schemas.openxmlformats.org/officeDocument/2006/relationships/slide" Target="/ppt/slides/slide7.xml" Id="R5ef39b46bcb14eff" /><Relationship Type="http://schemas.openxmlformats.org/officeDocument/2006/relationships/slide" Target="/ppt/slides/slide8.xml" Id="R1bea8951f2ac4a97" /><Relationship Type="http://schemas.openxmlformats.org/officeDocument/2006/relationships/slide" Target="/ppt/slides/slide9.xml" Id="Rc0c4ee01667e443d" /><Relationship Type="http://schemas.openxmlformats.org/officeDocument/2006/relationships/slide" Target="/ppt/slides/slide10.xml" Id="R94c69639192e4d78" /><Relationship Type="http://schemas.openxmlformats.org/officeDocument/2006/relationships/slide" Target="/ppt/slides/slide11.xml" Id="R912e9f00b43f4b27" /><Relationship Type="http://schemas.openxmlformats.org/officeDocument/2006/relationships/slide" Target="/ppt/slides/slide12.xml" Id="R5c838f8bcaa64389" /><Relationship Type="http://schemas.openxmlformats.org/officeDocument/2006/relationships/slide" Target="/ppt/slides/slide13.xml" Id="R30297e68e3b34ccd" /><Relationship Type="http://schemas.openxmlformats.org/officeDocument/2006/relationships/slide" Target="/ppt/slides/slide14.xml" Id="R8f2a748a99e14d30" /><Relationship Type="http://schemas.openxmlformats.org/officeDocument/2006/relationships/slide" Target="/ppt/slides/slide15.xml" Id="Rc721a1da0ec54a7d" /><Relationship Type="http://schemas.openxmlformats.org/officeDocument/2006/relationships/slide" Target="/ppt/slides/slide16.xml" Id="R296817a5527740f3" /><Relationship Type="http://schemas.openxmlformats.org/officeDocument/2006/relationships/slide" Target="/ppt/slides/slide17.xml" Id="Raedac3305b7140bd" /><Relationship Type="http://schemas.openxmlformats.org/officeDocument/2006/relationships/slide" Target="/ppt/slides/slide18.xml" Id="Read6b5a525914968" /><Relationship Type="http://schemas.openxmlformats.org/officeDocument/2006/relationships/slide" Target="/ppt/slides/slide19.xml" Id="Rf346b2677ec74df0" /><Relationship Type="http://schemas.openxmlformats.org/officeDocument/2006/relationships/slide" Target="/ppt/slides/slide20.xml" Id="R12f15a2a66c74b80" /><Relationship Type="http://schemas.openxmlformats.org/officeDocument/2006/relationships/slide" Target="/ppt/slides/slide21.xml" Id="Rac2234da561c4fb6" /><Relationship Type="http://schemas.openxmlformats.org/officeDocument/2006/relationships/slide" Target="/ppt/slides/slide22.xml" Id="R89677ad0462f4830" /><Relationship Type="http://schemas.openxmlformats.org/officeDocument/2006/relationships/slide" Target="/ppt/slides/slide23.xml" Id="R21aa106040154c9c" /><Relationship Type="http://schemas.openxmlformats.org/officeDocument/2006/relationships/slide" Target="/ppt/slides/slide24.xml" Id="Rcf402b5954224369" /><Relationship Type="http://schemas.openxmlformats.org/officeDocument/2006/relationships/slide" Target="/ppt/slides/slide25.xml" Id="Red4840b32528403d" /><Relationship Type="http://schemas.openxmlformats.org/officeDocument/2006/relationships/slide" Target="/ppt/slides/slide26.xml" Id="Re3bf5ec12222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20be34046746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c91a71b7ba4552" /><Relationship Type="http://schemas.openxmlformats.org/officeDocument/2006/relationships/notesMaster" Target="/ppt/notesMasters/notesMaster1.xml" Id="R844a14176f1041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596a6386d40fb" /><Relationship Type="http://schemas.openxmlformats.org/officeDocument/2006/relationships/notesMaster" Target="/ppt/notesMasters/notesMaster1.xml" Id="R247b86ea0c6644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dc97687aa84b7e" /><Relationship Type="http://schemas.openxmlformats.org/officeDocument/2006/relationships/notesMaster" Target="/ppt/notesMasters/notesMaster1.xml" Id="Re5f752511f7f41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51600c4f88435d" /><Relationship Type="http://schemas.openxmlformats.org/officeDocument/2006/relationships/notesMaster" Target="/ppt/notesMasters/notesMaster1.xml" Id="R95e2a8dbafbb47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91842c5f6643b4" /><Relationship Type="http://schemas.openxmlformats.org/officeDocument/2006/relationships/notesMaster" Target="/ppt/notesMasters/notesMaster1.xml" Id="R4c979ca682bc45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52a773417b4ca1" /><Relationship Type="http://schemas.openxmlformats.org/officeDocument/2006/relationships/notesMaster" Target="/ppt/notesMasters/notesMaster1.xml" Id="R760c3e7e214a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07cf5066704684" /><Relationship Type="http://schemas.openxmlformats.org/officeDocument/2006/relationships/notesMaster" Target="/ppt/notesMasters/notesMaster1.xml" Id="R276e3bd218a042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c222d5df5d4f28" /><Relationship Type="http://schemas.openxmlformats.org/officeDocument/2006/relationships/notesMaster" Target="/ppt/notesMasters/notesMaster1.xml" Id="R3f7cf1cc44e84b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5bf1e4e9804fec" /><Relationship Type="http://schemas.openxmlformats.org/officeDocument/2006/relationships/notesMaster" Target="/ppt/notesMasters/notesMaster1.xml" Id="R884740cd230844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5999d393194eb8" /><Relationship Type="http://schemas.openxmlformats.org/officeDocument/2006/relationships/notesMaster" Target="/ppt/notesMasters/notesMaster1.xml" Id="Re329750ff56c43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1285e990254b81" /><Relationship Type="http://schemas.openxmlformats.org/officeDocument/2006/relationships/notesMaster" Target="/ppt/notesMasters/notesMaster1.xml" Id="R055496358e0b46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4ed8c1e06a49a3" /><Relationship Type="http://schemas.openxmlformats.org/officeDocument/2006/relationships/notesMaster" Target="/ppt/notesMasters/notesMaster1.xml" Id="R42bfe05e81d743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51c347bcfc4bb0" /><Relationship Type="http://schemas.openxmlformats.org/officeDocument/2006/relationships/notesMaster" Target="/ppt/notesMasters/notesMaster1.xml" Id="R938adf682ade48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a083acd37e453d" /><Relationship Type="http://schemas.openxmlformats.org/officeDocument/2006/relationships/notesMaster" Target="/ppt/notesMasters/notesMaster1.xml" Id="Rcf0c3d057cfa4b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5c8ceb659f4f14" /><Relationship Type="http://schemas.openxmlformats.org/officeDocument/2006/relationships/notesMaster" Target="/ppt/notesMasters/notesMaster1.xml" Id="R0adf4f34993c4f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81aebb08ae4c51" /><Relationship Type="http://schemas.openxmlformats.org/officeDocument/2006/relationships/notesMaster" Target="/ppt/notesMasters/notesMaster1.xml" Id="Re03c93dc76d342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20831f50424ecb" /><Relationship Type="http://schemas.openxmlformats.org/officeDocument/2006/relationships/notesMaster" Target="/ppt/notesMasters/notesMaster1.xml" Id="Ra20e00c706274f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d87a2b24eb4256" /><Relationship Type="http://schemas.openxmlformats.org/officeDocument/2006/relationships/notesMaster" Target="/ppt/notesMasters/notesMaster1.xml" Id="Rc78721b9b3e540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dc9c2305dd4f68" /><Relationship Type="http://schemas.openxmlformats.org/officeDocument/2006/relationships/notesMaster" Target="/ppt/notesMasters/notesMaster1.xml" Id="Rf0232033021445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acc1974b5d4162" /><Relationship Type="http://schemas.openxmlformats.org/officeDocument/2006/relationships/notesMaster" Target="/ppt/notesMasters/notesMaster1.xml" Id="Rc3776b0c744b45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ff0e7dc7c143c9" /><Relationship Type="http://schemas.openxmlformats.org/officeDocument/2006/relationships/notesMaster" Target="/ppt/notesMasters/notesMaster1.xml" Id="Rc319df53d49c4ba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5cb39a9dc9453c" /><Relationship Type="http://schemas.openxmlformats.org/officeDocument/2006/relationships/notesMaster" Target="/ppt/notesMasters/notesMaster1.xml" Id="R45a54f5d3eae40e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4bb58179ab462c" /><Relationship Type="http://schemas.openxmlformats.org/officeDocument/2006/relationships/notesMaster" Target="/ppt/notesMasters/notesMaster1.xml" Id="R8a1e97f6350d41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729e9d5ed74662" /><Relationship Type="http://schemas.openxmlformats.org/officeDocument/2006/relationships/notesMaster" Target="/ppt/notesMasters/notesMaster1.xml" Id="R02ba3f27805f49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76c3ccf758147db" /><Relationship Type="http://schemas.openxmlformats.org/officeDocument/2006/relationships/notesMaster" Target="/ppt/notesMasters/notesMaster1.xml" Id="R55722c0d900844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743f01f66bd4dda" /><Relationship Type="http://schemas.openxmlformats.org/officeDocument/2006/relationships/notesMaster" Target="/ppt/notesMasters/notesMaster1.xml" Id="Rc043eebcc4df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欢迎大家参加天马智擎平台培训。今天不做技术原理展开，重点是让大家看得懂、点得动、用得对：先认识自研背景和第一期能力，再按首页、知识中心、工作台的顺序完成真实操作，随后把组货、评价、数据分析、日常办公和知识问答放进业务场景。请大家把自己的真实任务代入，所有重要输出都要人工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选择自研，首先是为了把数据、权限和使用规范放在企业可治理的框架里，降低材料随意流向未批准外部平台的风险；其次是为后续连接内部知识和业务系统预留统一入口；最后是把个人经验沉淀为团队可复用的知识与智能体。这里不承诺绝对安全，也不表示所有系统已经打通，员工仍要遵守数据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期已经具备首页对话、日常办公与专家模式、文件和知识引用、知识中心、工作台入口等能力。但它仍是第一版，可能出现理解偏差、遗漏、格式不兼容或执行异常。没有提供、没有授权、没有接入的数据不会自动获得；外部发送、审批、下单和重要决策都必须由责任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培训顺序遵循实际使用频率：首页占最大篇幅，讲清两种模式、智能体选择、文件上传、知识引用、会话搜索和消息操作；随后介绍知识中心和工作台；第三章重点讲怎么把工具放进真实业务，尤其是数据分析闭环；最后说明第一版的反馈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是主要工作入口。左侧用于新建、搜索和继续历史会话；中央输入区用于选模式、挂材料、描述任务并发送；导航还能进入知识中心和工作台。演示时先确定任务路径，再挂材料，最后输入要求。不要一上来只写“帮我分析一下”，否则结果难以验证，也不利于后续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办公适合写作整理、查找信息以及钉钉相关的消息、待办、日程等通用协同任务；专家模式适合需要专业方法、专属知识或固定流程的专项任务。它们不是普通版和高级版。混合任务可以串联：先用专家完成专业分析，再回日常办公整理汇报、待办或沟通内容。两条路径的结果都需要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模式时依次问三个问题。第一，任务是不是写、改、查、整理或钉钉协同这类通用办公；第二，是否依赖专业知识、固定输入和行业方法；第三，分析结果是否还要转成消息、会议或待办。比如“整理会议纪要”走日常办公，“按预算生成组货方案”走专家，“评价洞察后安排整改”则先专家再日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正式环境可见数据分析、组货专家、评价分析师、灵感大王等专家。选择前先读卡片说明，确认输入是否齐全、输出是否能验证。培训重点不是把所有卡片逐一点一遍，而是形成选择方法：任务目标匹配、材料齐全、要求具体、结果可复核。专家名称和数量后续可能随版本与权限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输入框旁的加号即可上传本地文件。正式环境弹窗显示支持pdf、doc、docx、xls、xlsx、txt、md，单文件不超过10MB，最多3个。它适合临时、少量、一次性材料。文件较大、需要团队复用或长期维护时，应先放进知识中心。上传成功不代表模型一定完整理解，关键数字仍要回原文件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首页附件面板切换到知识中心后，可以选择公共或个人空间并按文件名搜索。找不到文件时按四项排查：是否已经处理成功、是否选对空间和知识库、文件名是否匹配、当前账号是否有权限。引用知识文件不是把整个知识库自动塞进问题里，仍要写清范围、问题和输出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边栏支持搜索历史会话，会话会按日常办公和专家模式保留。搜索时用任务关键词、文件名或业务对象比“测试”“分析”更容易定位。继续旧会话前先确认上下文是否仍适用；任务、口径或材料变化较大时建议新建会话，避免旧指令和新目标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发出问题后仍有补救空间：原问题不准确时用重新编辑；希望在相同输入下再尝试时用重新生成；引用了知识或公开信息时要查看来源并回查原文。发生异常时不要无脑重复提交，先检查文件格式、大小、权限、提示词是否过长，再缩小任务重试；仍失败则通过“我要吐槽”提交可复现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中心用于建设可复用的企业知识。使用顺序是选空间、进知识库、选文件夹、上传文件、等待处理完成。公共空间适合经授权的团队资料，个人空间适合个人维护内容；具体可见范围由账号权限决定。文件上传完成不等于解析完成，只有处理成功后再用于首页引用或知识问答，稳定性才更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标出了知识中心的上传入口。点击前先确认空间、知识库和文件夹，避免放错位置或造成不当共享。当前培训口径是支持PDF、DOC、DOCX、XLS、XLSX、CSV、TXT、MD，单文件不超过50MB、单次最多100个；上传后要等待处理成功再问答或引用。限制可能随版本调整，现场仍应以发版当日页面提示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闭环是：先在知识中心把材料放到正确位置并等待处理成功，再回首页通过加号切换知识中心、选中目标文件，选择日常办公或匹配专家，最后按任务目标提问并人工复核。如果材料超出首页单文件10MB或3个附件限制，或者需要多人长期复用，就优先走这条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台用于集中进入已经配置的内部系统。当前测试账号正式环境实测显示11个系统卡片，可以通过顶部搜索定位。这里要讲清边界：看见入口不代表自动拥有业务权限，工作台也不等于这些系统已经和首页智能体实现全量数据打通；实际可见入口、登录状态和操作能力以账号权限及管理员配置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货专家适合把明确约束转成可执行商品组合。提问至少要给预算、人数、性别比例、品类需求，最好再补季节、价格带、品牌偏好、库存与交期。输出后逐项检查金额是否超预算、数量是否匹配、SKU来源是否可追溯，以及系统做了哪些假设。输入不完整时要允许它先反问，不要催着生成看似完整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价分析师用于对B2C店铺评价数据进行采集、整理和洞察，当前说明还包含报告输出。使用时先明确分析范围和时间，再选择全景、差评、品牌、高风险SKU、地区或物流视角。要求结论附数据证据并区分事实与推断。它可以发现问题线索，但不能替代业务团队核验样本偏差、刷评、物流异常或活动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分析专家的当前定位是输出经营报表、诊断异常指标并提供数据洞察。开始前先写业务问题、分析对象、时间范围和指标口径；数据最好保持一行一条记录、表头明确、单位一致，避免合并单元格和多层标题。不要只说“分析一下”，要同时说明汇总维度、异常定义、输出结构和需要人工核验的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分析不是上传表格后等一段总结，而是八步闭环：先确定要支持什么决策，再明确指标和维度；整理字段、格式和敏感信息；根据大小与复用需求选择首页或知识中心；选数据分析专家并挂载文件；按对象、范围、口径、任务、输出、约束六要素写提示；查看执行状态，抽查汇总和异常证据；最后沉淀可复用口径和问题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演示使用专门生成的模拟经营数据，不含真实业务敏感信息。发送前检查三件事：附件名称和版本是否正确，是否选中了数据分析专家，输入框中任务是否与附件匹配。如果文件超过首页限制，应该改走知识中心；如果数据包含个人信息、商业秘密或未经授权字段，先按公司规范脱敏并确认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提示把要求拆成六类：分析对象是附件模拟经营数据；范围是按周、区域、渠道和品类；口径包含销量、销售额和评分；任务是汇总与识别异常；输出要列证据、人工核验项和不超过五条建议；约束是所有结论引用附件具体数据且不补造数字。大家可以把这套结构替换为自己的业务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在正式环境真实上传并发送后，系统返回“智能体执行异常，请稍后重试”。这不是要掩盖的结果，而是V1培训必须讲清的边界。正确处理是保留会话、时间和错误截图，检查文件格式与任务复杂度，缩小范围后再试；仍失败时点击“我要吐槽”，跳转钉钉填写场景、步骤、期望、实际和脱敏附件，便于团队复现修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办公解决横向通用工作，例如整理会议内容、起草通知、准备钉钉消息或待办，但涉及真正发送和执行时必须人工确认。知识问答适合基于知识中心的制度、流程和业务材料提问，最好限定知识库、文件、版本和时间，并要求给出处。回答是定位信息的助手，不是原文件或制度责任人的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马智擎是第一版，功能和体验会持续迭代。遇到问题请点击平台“我要吐槽”，按钉钉链接填写。高质量反馈要能复现：说明账号或角色、业务场景、使用模式或专家、材料类型、操作步骤、期望和实际、发生时间与影响，并附脱敏截图。正向反馈也很重要，告诉团队哪项能力真正节省了时间、为什么好用，便于优先强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进入问答。找不到知识文件先查处理状态、空间、知识库、名称与权限；通用横向任务走日常，专业纵向任务走专家；数据分析异常先保留证据、检查输入并缩小范围重试，再通过钉钉反馈；工作台入口差异通常来自账号权限和管理员配置。现场无法确认的问题不要猜，记录后统一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现场按页面顺序演示，操作后停一下让学员确认画面。对权限、数字、外部动作和业务结论都提醒人工复核；无法当场确认的能力不猜测，通过平台“问题反馈”跳转钉钉跟进。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c9e9122f84a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e821f1de124d49" /><Relationship Type="http://schemas.openxmlformats.org/officeDocument/2006/relationships/slideLayout" Target="/ppt/slideLayouts/slideLayout1.xml" Id="Rf659fc2af4584f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59fc2af4584f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f8a3b552a4633" /><Relationship Type="http://schemas.openxmlformats.org/officeDocument/2006/relationships/notesSlide" Target="/ppt/notesSlides/notesSlide1.xml" Id="Ra9b787ab8473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85829cacc4785" /><Relationship Type="http://schemas.openxmlformats.org/officeDocument/2006/relationships/notesSlide" Target="/ppt/notesSlides/notesSlide2.xml" Id="R7f2e96173f49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f3eb6e4d54a43" /><Relationship Type="http://schemas.openxmlformats.org/officeDocument/2006/relationships/notesSlide" Target="/ppt/notesSlides/notesSlide3.xml" Id="R849f2c1137bb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8047d360e4ec0" /><Relationship Type="http://schemas.openxmlformats.org/officeDocument/2006/relationships/notesSlide" Target="/ppt/notesSlides/notesSlide4.xml" Id="R7f4eeae68321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5afd602d54aa3" /><Relationship Type="http://schemas.openxmlformats.org/officeDocument/2006/relationships/image" Target="/ppt/media/image.png" Id="Ra155ac2e59094085" /><Relationship Type="http://schemas.openxmlformats.org/officeDocument/2006/relationships/notesSlide" Target="/ppt/notesSlides/notesSlide5.xml" Id="R16caf4143c2d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b852fd6044acd" /><Relationship Type="http://schemas.openxmlformats.org/officeDocument/2006/relationships/image" Target="/ppt/media/image2.png" Id="R3fba1def83b14ec3" /><Relationship Type="http://schemas.openxmlformats.org/officeDocument/2006/relationships/notesSlide" Target="/ppt/notesSlides/notesSlide6.xml" Id="Reb952df5468940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6873f07ca4939" /><Relationship Type="http://schemas.openxmlformats.org/officeDocument/2006/relationships/notesSlide" Target="/ppt/notesSlides/notesSlide7.xml" Id="R6ebde834cd6a45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aec0d03704e43" /><Relationship Type="http://schemas.openxmlformats.org/officeDocument/2006/relationships/image" Target="/ppt/media/image3.png" Id="R008b6d24560949ed" /><Relationship Type="http://schemas.openxmlformats.org/officeDocument/2006/relationships/notesSlide" Target="/ppt/notesSlides/notesSlide8.xml" Id="R7cfc7e5b0f1347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64f3051ef4295" /><Relationship Type="http://schemas.openxmlformats.org/officeDocument/2006/relationships/image" Target="/ppt/media/image4.png" Id="R76953f20ef7b4fd5" /><Relationship Type="http://schemas.openxmlformats.org/officeDocument/2006/relationships/notesSlide" Target="/ppt/notesSlides/notesSlide9.xml" Id="Rdee0f0ef1e1541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b4da49a5c4b26" /><Relationship Type="http://schemas.openxmlformats.org/officeDocument/2006/relationships/image" Target="/ppt/media/image5.png" Id="Rc974907158cc4f98" /><Relationship Type="http://schemas.openxmlformats.org/officeDocument/2006/relationships/notesSlide" Target="/ppt/notesSlides/notesSlide10.xml" Id="Ra27e0cb3912d4a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8683c17154c40" /><Relationship Type="http://schemas.openxmlformats.org/officeDocument/2006/relationships/image" Target="/ppt/media/image6.png" Id="R9138976fab8842da" /><Relationship Type="http://schemas.openxmlformats.org/officeDocument/2006/relationships/notesSlide" Target="/ppt/notesSlides/notesSlide11.xml" Id="R31f1f650dd014d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a3d3998bb402f" /><Relationship Type="http://schemas.openxmlformats.org/officeDocument/2006/relationships/notesSlide" Target="/ppt/notesSlides/notesSlide12.xml" Id="R9f6f1df7822e4d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f84ad94cc4c7d" /><Relationship Type="http://schemas.openxmlformats.org/officeDocument/2006/relationships/image" Target="/ppt/media/image7.png" Id="R9a94aec8040a447f" /><Relationship Type="http://schemas.openxmlformats.org/officeDocument/2006/relationships/notesSlide" Target="/ppt/notesSlides/notesSlide13.xml" Id="Re89405ce7fc64a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418ed6226422a" /><Relationship Type="http://schemas.openxmlformats.org/officeDocument/2006/relationships/image" Target="/ppt/media/image8.png" Id="R3dc3ca5451be4e50" /><Relationship Type="http://schemas.openxmlformats.org/officeDocument/2006/relationships/notesSlide" Target="/ppt/notesSlides/notesSlide14.xml" Id="R703c7ca3321a4b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fa76b4fa9457f" /><Relationship Type="http://schemas.openxmlformats.org/officeDocument/2006/relationships/notesSlide" Target="/ppt/notesSlides/notesSlide15.xml" Id="R00c3df813ae042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f85ff83f447d7" /><Relationship Type="http://schemas.openxmlformats.org/officeDocument/2006/relationships/image" Target="/ppt/media/image9.png" Id="R9cad87ad63614a33" /><Relationship Type="http://schemas.openxmlformats.org/officeDocument/2006/relationships/notesSlide" Target="/ppt/notesSlides/notesSlide16.xml" Id="R78df81cc2b9a4a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c857052ec4f1b" /><Relationship Type="http://schemas.openxmlformats.org/officeDocument/2006/relationships/notesSlide" Target="/ppt/notesSlides/notesSlide17.xml" Id="R496294d992434c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345aeeb0d44dd" /><Relationship Type="http://schemas.openxmlformats.org/officeDocument/2006/relationships/notesSlide" Target="/ppt/notesSlides/notesSlide18.xml" Id="Rbc360e5871d543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5085f038442c1" /><Relationship Type="http://schemas.openxmlformats.org/officeDocument/2006/relationships/image" Target="/ppt/media/image10.png" Id="R75f4e9f55dcd4954" /><Relationship Type="http://schemas.openxmlformats.org/officeDocument/2006/relationships/notesSlide" Target="/ppt/notesSlides/notesSlide19.xml" Id="Ra67dd0b6328b48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862a48d6345f8" /><Relationship Type="http://schemas.openxmlformats.org/officeDocument/2006/relationships/notesSlide" Target="/ppt/notesSlides/notesSlide20.xml" Id="Rc2173761e7974a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bb715aea049e0" /><Relationship Type="http://schemas.openxmlformats.org/officeDocument/2006/relationships/image" Target="/ppt/media/image11.png" Id="Rd15cc4690ffe4b5b" /><Relationship Type="http://schemas.openxmlformats.org/officeDocument/2006/relationships/notesSlide" Target="/ppt/notesSlides/notesSlide21.xml" Id="Rc796e5486a4a46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f4c362221459a" /><Relationship Type="http://schemas.openxmlformats.org/officeDocument/2006/relationships/image" Target="/ppt/media/image12.png" Id="Ra6c6f2267b514319" /><Relationship Type="http://schemas.openxmlformats.org/officeDocument/2006/relationships/notesSlide" Target="/ppt/notesSlides/notesSlide22.xml" Id="R230c42a479de45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497f3adee4aab" /><Relationship Type="http://schemas.openxmlformats.org/officeDocument/2006/relationships/image" Target="/ppt/media/image13.png" Id="R19f5848cf8d54449" /><Relationship Type="http://schemas.openxmlformats.org/officeDocument/2006/relationships/notesSlide" Target="/ppt/notesSlides/notesSlide23.xml" Id="R1e94428401e043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c7a42ab214c3e" /><Relationship Type="http://schemas.openxmlformats.org/officeDocument/2006/relationships/notesSlide" Target="/ppt/notesSlides/notesSlide24.xml" Id="R1dc8a7065e6140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a492e58504abc" /><Relationship Type="http://schemas.openxmlformats.org/officeDocument/2006/relationships/notesSlide" Target="/ppt/notesSlides/notesSlide25.xml" Id="R122b322ceee9438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88d5873c845ba" /><Relationship Type="http://schemas.openxmlformats.org/officeDocument/2006/relationships/notesSlide" Target="/ppt/notesSlides/notesSlide26.xml" Id="R03935280515244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21AD88-B9D3-4E95-80DB-91E4E8B3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FF0E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9F141-BE62-4AAA-A1BD-0D63A55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1A16"/>
                </a:solidFill>
              </a:defRPr>
            </a:pPr>
            <a:r>
              <a:rPr sz="2100" b="1">
                <a:solidFill>
                  <a:srgbClr val="211A16"/>
                </a:solidFill>
              </a:rPr>
              <a:t>TIANMA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AB63B-58F3-4319-BA17-2B9D53F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TIANMA · INTERNAL TRAINING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C9552D-F9F7-4FC7-96A4-CADDE1D3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428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11A16"/>
                </a:solidFill>
              </a:defRPr>
            </a:pPr>
            <a:r>
              <a:rPr sz="5400" b="1">
                <a:solidFill>
                  <a:srgbClr val="211A16"/>
                </a:solidFill>
              </a:rPr>
              <a:t>天马智擎平台培训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D0676-E0B2-4C5B-9865-557C096F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6675E"/>
                </a:solidFill>
              </a:defRPr>
            </a:pPr>
            <a:r>
              <a:rPr sz="2100" b="0">
                <a:solidFill>
                  <a:srgbClr val="76675E"/>
                </a:solidFill>
              </a:rPr>
              <a:t>会用功能 · 做对任务 · 守住边界 · 反馈共建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6E1B0-CD99-4D6E-A8A8-120D59A8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75E"/>
                </a:solidFill>
              </a:defRPr>
            </a:pPr>
            <a:r>
              <a:rPr sz="1275" b="0">
                <a:solidFill>
                  <a:srgbClr val="76675E"/>
                </a:solidFill>
              </a:rPr>
              <a:t>V1 内部培训版 · 1920×1080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8A65B-F9EA-4ED3-B00D-FFCA184D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01 / 26</a:t>
            </a:r>
          </a:p>
        </p:txBody>
      </p:sp>
    </p:spTree>
    <p:extLst>
      <p:ext uri="{BB962C8B-B14F-4D97-AF65-F5344CB8AC3E}">
        <p14:creationId xmlns:p14="http://schemas.microsoft.com/office/powerpoint/2010/main" val="2118208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4B1648B-F4C9-44D1-8F59-7091CEE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自研不是“再做一个聊天工具”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E0F48A-AEEF-4FA5-9DB3-890FE15A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认识你的数智员工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63D4A-CE2A-4DDA-AF76-DDA975C0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44E99-4DF6-49BD-8CAD-A3F15560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02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BA36FDE4-6A8B-4470-A6E5-9DBBE825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D1D64-42CB-46E8-A455-DFAF19B3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D0E62-58E8-4FB8-B0B2-4F0C7527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4079B-8F43-4CF4-ABE1-EBACCCD8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降低内部材料流向未批准外部平台的风险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222303B8-385E-4F38-919C-14C899EB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9B9A5-7A60-4E58-B09C-B86050B0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DF145-A2AD-4BD8-B5AB-2CF1ABB6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29391-0F9F-43F5-8C72-65D03368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逐步连接内部知识与业务系统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1A4A7530-CA13-4A10-B81B-19C7DEF9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F0902-23B0-4E26-905B-C17C6615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EA880-225E-4094-A104-7498C245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207C9-30EE-44F2-B3D5-1AF1504A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沉淀可复用的知识、智能体与方法</a:t>
            </a:r>
          </a:p>
        </p:txBody>
      </p:sp>
    </p:spTree>
    <p:extLst>
      <p:ext uri="{BB962C8B-B14F-4D97-AF65-F5344CB8AC3E}">
        <p14:creationId xmlns:p14="http://schemas.microsoft.com/office/powerpoint/2010/main" val="774805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48F00098-835D-463E-ABAC-1879F430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V1 能力清单与边界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0A11D4-18C0-4E5B-8FE7-DFBC089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第一期能做什么，也不能做什么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18993-CBC6-48CB-8AD2-6208E64B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C9368-CFF4-4ED0-8AEC-E5F71C3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03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0A172E23-D765-492A-B1A0-00A1F041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190BE-910A-42E2-B17B-53593C3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19F9B-7716-4B1E-AA7F-59DB388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2A8B1-44E9-4C8B-928A-D00C88FB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能对话、挂载材料、调用专家智能体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8A1FB34D-EB09-43D8-A0F0-BAF3D01D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34928-559D-4442-B9AE-6F95E2B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50F1F-FD52-4D56-8ECB-A5A870AC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0C879-31EA-4512-903C-87A33618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能建设知识库、引用已处理文件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90CB0AD5-B4CE-44B9-8363-A4059E03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F7924-0976-4DDC-B285-86DB103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CDED1-677A-4849-81CA-BB00FA7B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1B3A9-0363-4A11-9F8E-EFE40F86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能从工作台进入已配置内部系统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26DC3C5F-6FA8-4ACE-B579-200FB88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9EF12-C60E-4A91-930C-EE232B70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38A94-8071-4BAE-B2AE-D51EF90E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C8D29-8E81-4E89-96CE-C1E6489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可能错误或执行异常，重要结论必须复核</a:t>
            </a:r>
          </a:p>
        </p:txBody>
      </p:sp>
    </p:spTree>
    <p:extLst>
      <p:ext uri="{BB962C8B-B14F-4D97-AF65-F5344CB8AC3E}">
        <p14:creationId xmlns:p14="http://schemas.microsoft.com/office/powerpoint/2010/main" val="1029417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10E224A7-F073-418D-AA68-6101B7F5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功能讲解与现场操作占主要篇幅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49EBED-3C66-4F50-BD52-FE02443A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今天怎么学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28CD0-6902-4C6F-A72B-DED76351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93CB3-B880-43D4-AE16-32AE1FB2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04 / 26</a:t>
            </a:r>
          </a:p>
        </p:txBody>
      </p:sp>
      <p:sp>
        <p:nvSpPr>
          <p:cNvPr id="5" name="agenda-1">
            <a:extLst xmlns:a="http://schemas.openxmlformats.org/drawingml/2006/main">
              <a:ext uri="{FF2B5EF4-FFF2-40B4-BE49-F238E27FC236}">
                <a16:creationId xmlns:a16="http://schemas.microsoft.com/office/drawing/2014/main" id="{3F014FD3-69AB-4007-9332-AF679D7A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7CA0-655C-4F39-A480-6EF5DD1C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765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A00"/>
                </a:solidFill>
              </a:defRPr>
            </a:pPr>
            <a:r>
              <a:rPr sz="150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8EAC5-D503-4328-99C0-E0077AF1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首页智能体｜模式、附件、会话与专家</a:t>
            </a:r>
          </a:p>
        </p:txBody>
      </p:sp>
      <p:sp>
        <p:nvSpPr>
          <p:cNvPr id="8" name="agenda-2">
            <a:extLst xmlns:a="http://schemas.openxmlformats.org/drawingml/2006/main">
              <a:ext uri="{FF2B5EF4-FFF2-40B4-BE49-F238E27FC236}">
                <a16:creationId xmlns:a16="http://schemas.microsoft.com/office/drawing/2014/main" id="{27F7FC68-4C2D-4DD8-808A-9E2407EA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41579-1E38-41D8-9B6C-5004DC95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A00"/>
                </a:solidFill>
              </a:defRPr>
            </a:pPr>
            <a:r>
              <a:rPr sz="150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1C75B-1485-46B0-8997-8B2F4F18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知识中心｜建设、处理、引用与问答</a:t>
            </a:r>
          </a:p>
        </p:txBody>
      </p:sp>
      <p:sp>
        <p:nvSpPr>
          <p:cNvPr id="11" name="agenda-3">
            <a:extLst xmlns:a="http://schemas.openxmlformats.org/drawingml/2006/main">
              <a:ext uri="{FF2B5EF4-FFF2-40B4-BE49-F238E27FC236}">
                <a16:creationId xmlns:a16="http://schemas.microsoft.com/office/drawing/2014/main" id="{15527478-BB71-472F-93A2-3E9C2468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F31FB-9E9C-4E2A-AB8D-D06FC02B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A00"/>
                </a:solidFill>
              </a:defRPr>
            </a:pPr>
            <a:r>
              <a:rPr sz="150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D35D1-2A02-451D-901D-1EF0A03A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工作台｜统一入口与权限边界</a:t>
            </a:r>
          </a:p>
        </p:txBody>
      </p:sp>
      <p:sp>
        <p:nvSpPr>
          <p:cNvPr id="14" name="agenda-4">
            <a:extLst xmlns:a="http://schemas.openxmlformats.org/drawingml/2006/main">
              <a:ext uri="{FF2B5EF4-FFF2-40B4-BE49-F238E27FC236}">
                <a16:creationId xmlns:a16="http://schemas.microsoft.com/office/drawing/2014/main" id="{3338C01C-BA05-4CF4-97A5-3868425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99208-80C0-42F7-AC41-4DD04606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483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A00"/>
                </a:solidFill>
              </a:defRPr>
            </a:pPr>
            <a:r>
              <a:rPr sz="150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442CE-911D-4A6D-8373-464E9B51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91225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业务场景｜组货、评价、数据分析、办公、问答</a:t>
            </a:r>
          </a:p>
        </p:txBody>
      </p:sp>
      <p:sp>
        <p:nvSpPr>
          <p:cNvPr id="17" name="agenda-5">
            <a:extLst xmlns:a="http://schemas.openxmlformats.org/drawingml/2006/main">
              <a:ext uri="{FF2B5EF4-FFF2-40B4-BE49-F238E27FC236}">
                <a16:creationId xmlns:a16="http://schemas.microsoft.com/office/drawing/2014/main" id="{26FB2ED6-CF8F-4A6D-8124-B36EA372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53250"/>
            <a:ext cx="1543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0C28A-0D75-4A0F-AA07-F7E223D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239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A00"/>
                </a:solidFill>
              </a:defRPr>
            </a:pPr>
            <a:r>
              <a:rPr sz="1500" b="1">
                <a:solidFill>
                  <a:srgbClr val="FF6A00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46967-F99F-4C8D-AC3A-5174A122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181850"/>
            <a:ext cx="1304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V1 共建｜我要吐槽 → 钉钉反馈</a:t>
            </a:r>
          </a:p>
        </p:txBody>
      </p:sp>
    </p:spTree>
    <p:extLst>
      <p:ext uri="{BB962C8B-B14F-4D97-AF65-F5344CB8AC3E}">
        <p14:creationId xmlns:p14="http://schemas.microsoft.com/office/powerpoint/2010/main" val="233349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EBDE814C-61D9-4D8B-9EA2-21AA4D52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02.1 · 首页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F4BB72-181D-4AA6-82CC-4A323235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首页导览：先看入口，再开始派活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91155-2F2C-410C-A48B-BFEC4C46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6D80-BAB9-426F-974E-CFF83F95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05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0F8939F-BB82-44BA-9EA0-F70EEF7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5ac2e59094085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0404DF8A-36B3-4BAB-AE25-80058707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85951-A92A-415B-B81B-0CE4FCA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D0447-0094-4CCC-8E35-B204A3DC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42BEF-2D64-46AE-8613-FFE9FF5B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新建 / 搜索 / 历史会话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0EAACDDA-7ABC-4D2E-A875-0E4534B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B8FE4-2288-4EC5-A43C-05302FF9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7BAB4-002A-4FCF-A75B-77E1724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9CF51-CEB8-4A5A-9736-DCB19A86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模式、附件与输入区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B5A8B818-7BDE-4545-8D14-A87D7BF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14161-4C61-42D5-9998-0E024246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EA0B2-7C13-49BC-931A-18C1D1F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7FB03-8816-4171-A13D-CDC6BFF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专家、知识中心、工作台入口</a:t>
            </a:r>
          </a:p>
        </p:txBody>
      </p:sp>
    </p:spTree>
    <p:extLst>
      <p:ext uri="{BB962C8B-B14F-4D97-AF65-F5344CB8AC3E}">
        <p14:creationId xmlns:p14="http://schemas.microsoft.com/office/powerpoint/2010/main" val="1045872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B0DB7B6F-1A0B-4765-82D0-2D6EBE9C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02.2 · 模式定位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CD74C1-D9DA-42CB-A578-B103B2AF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日常办公和专家模式：两条任务路径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719E8-839F-43D7-B660-611E280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90F20-7CAB-4439-A8A2-2B06737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06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70B3C73-7E70-4474-9C6D-A74AD64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a1def83b14ec3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D1759CE9-A348-47CF-AF92-946FE2F2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ACB31-3EBB-40C8-B4AE-CE3B891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C3983-9BB0-4BFA-8D3F-1CDF3EF9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7B232-3FDA-4BCD-9604-DB39E97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日常：通用、轻量、协同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A67591F2-85C3-4839-9D50-89523FA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4EC80-BF2C-448B-8BA2-9001500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CAFB3-6064-46BB-9364-A79D5045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796AD-7F40-4B1B-8710-1F6C0F82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专家：专业、复杂、固定方法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0D4B4A56-6F50-4CC1-814B-1DF4FB9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25A43-8F2B-438A-8730-33FB12F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456DA-C584-4269-A72E-E2237EF6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FE815-2746-4578-9C40-CD5E5263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混合任务：先专家，后办公落地</a:t>
            </a:r>
          </a:p>
        </p:txBody>
      </p:sp>
    </p:spTree>
    <p:extLst>
      <p:ext uri="{BB962C8B-B14F-4D97-AF65-F5344CB8AC3E}">
        <p14:creationId xmlns:p14="http://schemas.microsoft.com/office/powerpoint/2010/main" val="1972425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C8D48CF-5622-4797-9044-126E814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先判断任务，而不是凭感觉点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D57875-E896-41DC-8CB6-FA99091B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三步选对模式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B364F-C214-4B64-97CE-78A97D07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9E297-9688-466A-9E9B-39A9A2E7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07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96E3F1AE-01EE-4E1B-902D-45854079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E0CCE-C349-4C25-9D6C-49C5AF5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29A24-5E34-485A-8152-9F2064FA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0DBE7-E54D-4279-BB65-EA0FC6A4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这是通用办公或协同动作吗？是 → 日常办公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68A2E279-4A64-4F29-ACDD-75250871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05C1-129C-455B-A4E2-F50490EB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75768-A857-46CA-A28D-D95988A9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70286-F563-418E-A8D8-29B5D38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依赖专业知识、固定流程吗？是 → 专家模式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4FFCEC6F-FE43-4E21-BDB2-870F42FE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B907D-0BB3-4B01-B3EC-E543489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4F5AC-AB10-405D-9187-09171455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78DFC-1C98-4062-B42A-58B6A87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既有专业分析又要落地？先专家 → 后日常</a:t>
            </a:r>
          </a:p>
        </p:txBody>
      </p:sp>
    </p:spTree>
    <p:extLst>
      <p:ext uri="{BB962C8B-B14F-4D97-AF65-F5344CB8AC3E}">
        <p14:creationId xmlns:p14="http://schemas.microsoft.com/office/powerpoint/2010/main" val="663653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9E3F68C7-E819-4FC0-AA64-D6412A5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02.3 · 专家智能体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34CA02-9FE2-41E5-B3CA-CB49C999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专家模式：按任务目标选择智能体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2465E-29F7-4A94-8246-AEF4B4A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4B2D8-167D-4B97-BB52-2A196AC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08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5844836-6E41-4D7C-8903-E8BB1DF9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b6d24560949ed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81A31E11-8121-4F84-AB1C-A50E26F6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CD778-A1B0-45F8-A582-C9EDB1EB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24A5C-90E2-49DF-9019-8903F5BE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B74AA-0A40-484F-9F6F-A68CB3C4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数据分析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CE115FE3-1A97-4438-B9FA-BDEB7D17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E241E-AFBA-4821-AA2F-E3D15F7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54276-C71A-46A8-BB9A-F37D15C2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77F52-A515-4320-8E4B-A5BAB262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组货专家 / 评价分析师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166AEF3D-36D2-40FE-85B5-11D2E413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D995B-5CB0-4D2B-8174-05B8F067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2A88B-4DC2-4D80-942C-9EFCF664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77A40-DDBD-431D-9504-7C654FD2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灵感大王等其他专家</a:t>
            </a:r>
          </a:p>
        </p:txBody>
      </p:sp>
    </p:spTree>
    <p:extLst>
      <p:ext uri="{BB962C8B-B14F-4D97-AF65-F5344CB8AC3E}">
        <p14:creationId xmlns:p14="http://schemas.microsoft.com/office/powerpoint/2010/main" val="298206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56FFAE8-CFEE-4888-AB87-CD1BFD06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02.4 · 本地附件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B3DAC4-74FA-421A-AC76-E4D0BD7B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首页上传本地文件：记住 10MB 和 3 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6A80D-20B6-4A94-9D89-801F64AC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5A321-9F9D-4490-81F8-A842C659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09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8C8312A0-7598-4B62-8CA4-CE6B9B90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53f20ef7b4fd5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73866250-BB7F-4B6C-B6D8-610DEF6F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0CD36-DBE1-413E-A28C-D247AF6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857DA-4646-4A6F-AB4E-B74CD26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96849-775C-4C4C-B6AD-657D66F7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支持常见文档与表格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BD857F23-0F27-4F46-B6D1-B2E06F67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166F7-6AFC-4946-83BF-A74E848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7D494-FB36-4E3F-A8A2-040BCF89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FA101-33D8-44AE-A356-A8F0BA85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单文件不超过 10MB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B0355ECE-F424-464F-93D5-251D4002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DB3CA-2F93-4AC7-9AAA-195FB47F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5FCB6-B0B7-4FE6-B154-8CAF9B6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8A7B7-BAAE-4D78-8C3F-47B26BB5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一次最多挂载 3 个</a:t>
            </a:r>
          </a:p>
        </p:txBody>
      </p:sp>
    </p:spTree>
    <p:extLst>
      <p:ext uri="{BB962C8B-B14F-4D97-AF65-F5344CB8AC3E}">
        <p14:creationId xmlns:p14="http://schemas.microsoft.com/office/powerpoint/2010/main" val="400993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23E1666C-2BB9-4438-B384-6D81ED83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02.5 · 知识引用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586636-912F-4F08-811B-6CD4170E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从知识中心引用：先处理成功，再回首页选择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06E94-E910-4E5F-AF82-F6916DFB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7E554-C091-4B04-AAA8-BD405A4D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10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73B2681E-8FA0-4AD5-B35D-538BB257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4907158cc4f98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A0169746-114F-47AC-8E28-4CE71C0E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8270D-F414-430D-85AA-470FAD6B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B526F-50B6-415A-B777-4FF8FC80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7420B-8462-4EF3-9D50-E7D6636D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选择公共 / 个人空间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CA7B8AF3-0056-4660-9AFE-D6A17B6C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30F71-B3D7-4036-B3BA-B588EC61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5EFF7-8F57-4867-BAFD-B1F8DA49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BE97F-52DF-46E6-A9F3-F1963C4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按文档名搜索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C5A1F5C9-9648-415B-9D44-07CADD3E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DB83E-4D8C-4D8D-8410-154D8D41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633EA-308E-4B02-8D9F-10264AE0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260BC-A52F-47A9-ADFD-AB26D6DE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找不到时查状态、位置、权限</a:t>
            </a:r>
          </a:p>
        </p:txBody>
      </p:sp>
    </p:spTree>
    <p:extLst>
      <p:ext uri="{BB962C8B-B14F-4D97-AF65-F5344CB8AC3E}">
        <p14:creationId xmlns:p14="http://schemas.microsoft.com/office/powerpoint/2010/main" val="1918812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A11B28E-6986-453B-A329-65D7578E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02.6 · 会话管理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783E82-9564-4431-ADAC-CBB60A80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会话搜索：把历史工作找回来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DB089-D2B9-432D-A30F-5E5BE521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347EF-8D30-4B15-A778-E68913D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11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F073409-1006-4ABB-8133-011CF910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8976fab8842da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3D157EF9-5E8C-487E-9EB5-AE2B8CBC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E82D6-9F16-4BA9-A34D-4165D16D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0EA7A-C711-4D65-BF09-A5DACDA0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CC340-93F5-4E03-9AAF-B73C0A36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按关键词搜索会话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9D4C6CEB-1824-4091-B3A8-8B8D0756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828B3-CBA3-4D1E-B47A-423368A8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23A76-17C5-4D6A-9C39-6389BB7D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E6AB9-8491-4D4F-9792-96188C1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区分日常与专家历史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6BF30DAB-DC1D-4C14-BEFE-AEC65B50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6E2E3-D942-401F-9CDB-CCBCCA4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8B100-F72A-4574-B2A7-F56F74CA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9F262-BC53-49E6-A664-CE1823AB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继续对话前确认上下文</a:t>
            </a:r>
          </a:p>
        </p:txBody>
      </p:sp>
    </p:spTree>
    <p:extLst>
      <p:ext uri="{BB962C8B-B14F-4D97-AF65-F5344CB8AC3E}">
        <p14:creationId xmlns:p14="http://schemas.microsoft.com/office/powerpoint/2010/main" val="10613249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DEDCC140-EA02-466D-99B6-F173FB13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02.7 · 对话细节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27F088-62A3-4091-8A43-FCC768A5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消息与回答的常用操作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B4084-C1AC-4183-9E7B-F6D91873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920A-42F8-41AC-87C5-50B05E8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12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78070DB1-3456-4F77-A330-6BFB01C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353E4-5591-49DA-B102-3430B25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B3898-A419-498C-A42B-166DD9D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4A9F0-A1AA-461E-BF0E-90FE7DD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重新编辑：修改原问题后再次提交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9BC6F589-2A81-41E7-8A03-5BC6BBA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B2464-4C1A-4D08-85A6-4C765BE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DC88F-7FE6-47D4-ADDC-EDEA8438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48E5A-13C4-4B7D-94F5-6D377CD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重新生成：同一输入再获取一次回答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4A78F4BA-0C60-40B8-BE52-1999FA6E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0C194-C5B4-4216-8B18-0A9847B0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286A9-AA89-492E-9B9A-957A398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05D48-B668-44F5-B174-BDAB6BBA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复制 / 引用来源：保留可追溯证据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5D1FB1BB-2E33-42B5-BE71-899C7EE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96F31-6CD1-42DF-BF01-A805168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1C4E0-86D9-41EB-9092-812A50F8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317AE-3057-4247-9A49-BA4DE36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失败时先检查材料和要求，再重试或反馈</a:t>
            </a:r>
          </a:p>
        </p:txBody>
      </p:sp>
    </p:spTree>
    <p:extLst>
      <p:ext uri="{BB962C8B-B14F-4D97-AF65-F5344CB8AC3E}">
        <p14:creationId xmlns:p14="http://schemas.microsoft.com/office/powerpoint/2010/main" val="11792765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608B4F59-590F-4248-BCB7-BA21E64A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02.8 · 知识中心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0EDAB0-6B53-4F18-B946-9F5E6F13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知识中心：从“个人附件”变成“团队资产”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2C244-974F-4981-9464-2639D0A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37FCA-B3E1-4548-BA0A-A18CD679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13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F24F0148-BC4E-41E8-96B0-EACDBC80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4aec8040a447f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45C532D2-632D-4394-8510-62A57423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F0AC5-2687-448D-B805-E94F4C10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44E3B-FD5B-4D06-9336-737DDF84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F5493-064B-473D-80FA-4104260F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公共 / 个人空间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2EFF4F60-14CC-4F0D-94B9-34CA89F5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3D147-E95D-49E1-B99C-9D5AC89A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2DD32-F3AC-4262-B8FA-F2C382E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8B3A8-1277-4842-9936-5E8844E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知识库、文件夹与文件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41169E47-D5C3-47A1-A865-7600747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15791-758D-4E4A-B68D-B8CF9A88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17430-DEBF-4D76-AACD-A52768AE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3D9DB-5A26-4F65-B378-64D9A2B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上传后等待处理完成</a:t>
            </a:r>
          </a:p>
        </p:txBody>
      </p:sp>
    </p:spTree>
    <p:extLst>
      <p:ext uri="{BB962C8B-B14F-4D97-AF65-F5344CB8AC3E}">
        <p14:creationId xmlns:p14="http://schemas.microsoft.com/office/powerpoint/2010/main" val="18467172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40D0457-84C2-4208-9EEC-62234C35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02.9 · 知识建设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2015C4-0E11-4D70-B605-EF7B934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知识中心上传入口：先确认目标知识库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CDE91-9BED-4B8A-A203-BDA27EA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AC6E7-EDC7-479A-886F-10F2D44E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14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324E967-8269-49CF-98E1-FD8DEFF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3ca5451be4e50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8357B3D0-097D-4A5F-98A7-693AAFF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19B3-FA99-4971-AF46-2983B293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352F9-D4FC-47DA-83A9-4EA40810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BAC34-6C19-413F-A9B4-D5F942B6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先选对空间与知识库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116005BA-A96B-47D1-AE66-D7314EC4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5454F-2EC1-4943-8213-E4B5A24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49172-AEC1-49E6-B155-D4D8C4AF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2016C-FF68-4B68-863E-5EFA4DF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培训口径：≤50MB / 文件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8713946C-66D2-42CB-A391-A2E84272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2F30F-81D0-465D-ABFF-F0246D7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9A0EF-11D8-46C4-AFD6-884EC612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8A3C5-5828-430B-8034-5AD66AC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单次最多 100 个，上传后等处理</a:t>
            </a:r>
          </a:p>
        </p:txBody>
      </p:sp>
    </p:spTree>
    <p:extLst>
      <p:ext uri="{BB962C8B-B14F-4D97-AF65-F5344CB8AC3E}">
        <p14:creationId xmlns:p14="http://schemas.microsoft.com/office/powerpoint/2010/main" val="423644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6C3F4225-2AAF-4BFE-93D1-0E50A535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02.10 · 知识中心 → 首页对话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F990C8-C6C4-470F-9807-89CD908F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系统模块怎么耦合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5C867-53C6-4BCF-ACC9-70CF391C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B297C-9E40-4CA5-B8BB-E974232C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15 / 26</a:t>
            </a:r>
          </a:p>
        </p:txBody>
      </p:sp>
      <p:sp>
        <p:nvSpPr>
          <p:cNvPr id="5" name="flow-1">
            <a:extLst xmlns:a="http://schemas.openxmlformats.org/drawingml/2006/main">
              <a:ext uri="{FF2B5EF4-FFF2-40B4-BE49-F238E27FC236}">
                <a16:creationId xmlns:a16="http://schemas.microsoft.com/office/drawing/2014/main" id="{2CAB330B-ED38-40A2-942C-CA637767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E5F9D-125B-48AA-883D-06198EE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A00"/>
                </a:solidFill>
              </a:defRPr>
            </a:pPr>
            <a:r>
              <a:rPr sz="2250" b="1">
                <a:solidFill>
                  <a:srgbClr val="FF6A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3CD27-92A4-48BC-AC48-B279CAA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1A16"/>
                </a:solidFill>
              </a:defRPr>
            </a:pPr>
            <a:r>
              <a:rPr sz="1650" b="1">
                <a:solidFill>
                  <a:srgbClr val="211A16"/>
                </a:solidFill>
              </a:rPr>
              <a:t>上传到正确知识库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9D31C-01DF-4C7B-B761-6D74A84F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A00"/>
                </a:solidFill>
              </a:defRPr>
            </a:pPr>
            <a:r>
              <a:rPr sz="2550" b="1">
                <a:solidFill>
                  <a:srgbClr val="FF6A00"/>
                </a:solidFill>
              </a:rPr>
              <a:t>→</a:t>
            </a:r>
          </a:p>
        </p:txBody>
      </p:sp>
      <p:sp>
        <p:nvSpPr>
          <p:cNvPr id="9" name="flow-2">
            <a:extLst xmlns:a="http://schemas.openxmlformats.org/drawingml/2006/main">
              <a:ext uri="{FF2B5EF4-FFF2-40B4-BE49-F238E27FC236}">
                <a16:creationId xmlns:a16="http://schemas.microsoft.com/office/drawing/2014/main" id="{C7338F95-FE9B-4820-8D59-3E0981CF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3AAF6-6040-439F-8843-FB96BEC6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A00"/>
                </a:solidFill>
              </a:defRPr>
            </a:pPr>
            <a:r>
              <a:rPr sz="2250" b="1">
                <a:solidFill>
                  <a:srgbClr val="FF6A0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58D37-3F67-4A80-9D0A-0F3DE2BA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1A16"/>
                </a:solidFill>
              </a:defRPr>
            </a:pPr>
            <a:r>
              <a:rPr sz="1650" b="1">
                <a:solidFill>
                  <a:srgbClr val="211A16"/>
                </a:solidFill>
              </a:rPr>
              <a:t>等待处理成功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103D0-4B18-4325-81DD-1658D972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A00"/>
                </a:solidFill>
              </a:defRPr>
            </a:pPr>
            <a:r>
              <a:rPr sz="2550" b="1">
                <a:solidFill>
                  <a:srgbClr val="FF6A00"/>
                </a:solidFill>
              </a:rPr>
              <a:t>→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B4500062-A3A9-4542-89BC-35A641E3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F274C-3698-4109-9B8A-60C4195D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A00"/>
                </a:solidFill>
              </a:defRPr>
            </a:pPr>
            <a:r>
              <a:rPr sz="2250" b="1">
                <a:solidFill>
                  <a:srgbClr val="FF6A00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43295-55BA-448C-B338-E8BB697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1A16"/>
                </a:solidFill>
              </a:defRPr>
            </a:pPr>
            <a:r>
              <a:rPr sz="1650" b="1">
                <a:solidFill>
                  <a:srgbClr val="211A16"/>
                </a:solidFill>
              </a:rPr>
              <a:t>首页引用知识文件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5776B-1122-456A-B0A7-C6217EC8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A00"/>
                </a:solidFill>
              </a:defRPr>
            </a:pPr>
            <a:r>
              <a:rPr sz="2550" b="1">
                <a:solidFill>
                  <a:srgbClr val="FF6A00"/>
                </a:solidFill>
              </a:rPr>
              <a:t>→</a:t>
            </a:r>
          </a:p>
        </p:txBody>
      </p:sp>
      <p:sp>
        <p:nvSpPr>
          <p:cNvPr id="17" name="flow-4">
            <a:extLst xmlns:a="http://schemas.openxmlformats.org/drawingml/2006/main">
              <a:ext uri="{FF2B5EF4-FFF2-40B4-BE49-F238E27FC236}">
                <a16:creationId xmlns:a16="http://schemas.microsoft.com/office/drawing/2014/main" id="{7A151A19-16D2-4645-AF98-62169B80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CAA59-2B46-4580-AD1E-805B6E24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A00"/>
                </a:solidFill>
              </a:defRPr>
            </a:pPr>
            <a:r>
              <a:rPr sz="2250" b="1">
                <a:solidFill>
                  <a:srgbClr val="FF6A00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26F6D-E3E4-4445-B837-13532F60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1A16"/>
                </a:solidFill>
              </a:defRPr>
            </a:pPr>
            <a:r>
              <a:rPr sz="1650" b="1">
                <a:solidFill>
                  <a:srgbClr val="211A16"/>
                </a:solidFill>
              </a:rPr>
              <a:t>选择日常或专家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DBC22-6688-471A-816D-D42BF7BA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A00"/>
                </a:solidFill>
              </a:defRPr>
            </a:pPr>
            <a:r>
              <a:rPr sz="2550" b="1">
                <a:solidFill>
                  <a:srgbClr val="FF6A00"/>
                </a:solidFill>
              </a:rPr>
              <a:t>→</a:t>
            </a:r>
          </a:p>
        </p:txBody>
      </p:sp>
      <p:sp>
        <p:nvSpPr>
          <p:cNvPr id="21" name="flow-5">
            <a:extLst xmlns:a="http://schemas.openxmlformats.org/drawingml/2006/main">
              <a:ext uri="{FF2B5EF4-FFF2-40B4-BE49-F238E27FC236}">
                <a16:creationId xmlns:a16="http://schemas.microsoft.com/office/drawing/2014/main" id="{5A4F2B5F-4537-401C-AD6E-140BCC39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429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B731F-F7BF-446A-96A9-A3FF3E6A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714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A00"/>
                </a:solidFill>
              </a:defRPr>
            </a:pPr>
            <a:r>
              <a:rPr sz="2250" b="1">
                <a:solidFill>
                  <a:srgbClr val="FF6A00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43EA9-177A-47DF-87CE-9D83778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333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1A16"/>
                </a:solidFill>
              </a:defRPr>
            </a:pPr>
            <a:r>
              <a:rPr sz="1650" b="1">
                <a:solidFill>
                  <a:srgbClr val="211A16"/>
                </a:solidFill>
              </a:rPr>
              <a:t>提问、复核、沉淀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3AE33-2879-4A25-87A0-D2B6E763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191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较大 / 复用材料优先走知识中心；处理成功后再引用</a:t>
            </a:r>
          </a:p>
        </p:txBody>
      </p:sp>
    </p:spTree>
    <p:extLst>
      <p:ext uri="{BB962C8B-B14F-4D97-AF65-F5344CB8AC3E}">
        <p14:creationId xmlns:p14="http://schemas.microsoft.com/office/powerpoint/2010/main" val="2244531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31FD1071-1727-4A95-834E-D0C93176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02.11 · 工作台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1DB946-8FC7-48BA-A89A-874D6B60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工作台：内部系统的统一入口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31593-0281-497C-96A6-F4C73B7F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488EE-293F-46FD-8F57-9874D94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16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C6F73FD-03BA-42A7-A00B-6652C21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87ad63614a33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C1995D6E-12C2-401C-9D5B-7D65C7A7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36F54-1F8F-4671-89EE-FBCF23B3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4361E-EC28-4863-A71E-E20F2F4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A31ED-348E-407E-9A8C-E7B4AE2B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搜索已配置系统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EE4856FF-FB8D-43E4-84D1-70384C07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0A988-DC7E-4825-AA66-E22D30A2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E6DE8-38BF-4FCF-B5B6-7F2F01FD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39179-C9A4-48A9-A228-8908E68D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当前账号实测 11 个入口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BFCEEDC2-1FA3-4B71-8909-D027689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32097-6B70-42C8-AEB3-AE9D0D3F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0D8F9-3749-47BA-8679-96B80BF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4844-12E3-4847-8525-8242648C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列表随权限与配置变化</a:t>
            </a:r>
          </a:p>
        </p:txBody>
      </p:sp>
    </p:spTree>
    <p:extLst>
      <p:ext uri="{BB962C8B-B14F-4D97-AF65-F5344CB8AC3E}">
        <p14:creationId xmlns:p14="http://schemas.microsoft.com/office/powerpoint/2010/main" val="1365273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981BD4AD-E1B2-4A3F-8446-11C15AE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03.1 · 组货场景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C4DC8F-26D6-4827-9CFC-4A099DA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组货专家：把约束写全再要方案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0B615-C2CF-42AF-8E07-96FE61A8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122D4-C966-4F97-8BFF-74B79AF1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17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091FC5B2-2707-4CE3-88E3-16E61A6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8F462-3E42-4754-B47A-99557A32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80CDC-41E7-40F5-85CA-C785A81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24B4E-5A9C-43D0-A238-C3E92923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输入：预算、人数、性别比例、品类与季节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193E22C2-ED23-4E57-97EE-8969948D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8E23F-3E0B-491C-BDA7-7BCAB028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7AE92-5AC2-4E5B-818C-B43F106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F4A33-EBDF-4F46-83C1-0F618E6C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过程：匹配知识库方案和商品信息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7D61DDCC-4B12-4A83-81ED-211F9CEB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CAC99-67BC-430F-8D95-3E60111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6A3DF-9C4B-427D-B769-9BA1898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27B71-BE7F-4160-AC4A-2919DFDA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复核：总金额、数量、SKU 来源、库存与假设</a:t>
            </a:r>
          </a:p>
        </p:txBody>
      </p:sp>
    </p:spTree>
    <p:extLst>
      <p:ext uri="{BB962C8B-B14F-4D97-AF65-F5344CB8AC3E}">
        <p14:creationId xmlns:p14="http://schemas.microsoft.com/office/powerpoint/2010/main" val="15070201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423267F-E81A-4957-9783-EA76D50D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03.2 · 评价场景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7635D8-645D-49EF-B0A1-F9D39769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评价分析师：先找线索，再业务核验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610F8-B7F6-4977-8510-B28BF4BA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A807D-FCD8-4851-AF86-4500A0A0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18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A3B20E65-4E7D-4308-9696-9B35CADD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E67E7-617E-4FF8-81C2-1B0BE90D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2920C-1D34-494E-9AF4-4A772DBB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20241-7882-48FD-8B3F-735E41D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选择全景、差评、品牌、SKU、地区或物流视角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E8E8599E-1E3A-4C7B-9A00-E2CB952D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AD529-4410-4AB2-A99F-EB824670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41ED0-92A8-4602-B406-A5C3A0F7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CDE8D-83BA-47CA-9537-03C2287C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要求列出证据、影响范围与优先级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F5FC65E9-55FC-4CF3-B530-F057C481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42380-D1D2-4A26-B8AA-3955A8B1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8EF9A-62FE-49AE-887C-659474B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3B7CC-A933-40EA-9847-C31AF44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人工核验样本偏差、异常订单和业务原因</a:t>
            </a:r>
          </a:p>
        </p:txBody>
      </p:sp>
    </p:spTree>
    <p:extLst>
      <p:ext uri="{BB962C8B-B14F-4D97-AF65-F5344CB8AC3E}">
        <p14:creationId xmlns:p14="http://schemas.microsoft.com/office/powerpoint/2010/main" val="17643060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7FC9A42-A5DB-465C-8F67-DF40A72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03.3 · 数据分析入口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042FDE-A3A0-4EAA-8A0B-8A6BFB25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数据分析：先选对专家，再准备可读数据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78059-C7FC-4371-AEC6-4D67D99A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564F7-97B8-4385-BC63-9456CBB3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19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64FEC43-F72A-467E-91E3-7BBCF5B1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4e9f55dcd4954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DBC4313B-A853-479D-84AE-E62BEA74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E0D10-C7C3-4109-9368-B1423B7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0BCC1-F55D-44D6-9EBC-4F9A3F47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86CF4-4679-4BA3-81A3-7CB1578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明确业务问题与指标口径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AC2A9153-258F-47A9-89A9-2678FD79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95645-414B-4E44-BA5E-B03BB7E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5D79F-6FDC-4F76-A2B9-A54B4D87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37C4C-8AE3-4AF6-8E1E-108E7590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准备结构化表格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61205D72-359D-4917-BB8F-A72FB2A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A7778-96CA-4827-A23B-5754221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B5E8F-D2B1-4C16-BE0C-89C3531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1D9D0-49E6-4219-8495-C66168D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要求证据、核验项和行动建议</a:t>
            </a:r>
          </a:p>
        </p:txBody>
      </p:sp>
    </p:spTree>
    <p:extLst>
      <p:ext uri="{BB962C8B-B14F-4D97-AF65-F5344CB8AC3E}">
        <p14:creationId xmlns:p14="http://schemas.microsoft.com/office/powerpoint/2010/main" val="16709858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755EEE2E-211F-44A9-AE5F-8AC45B14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03.3 · 八步闭环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9E4FC9-F22E-498E-8B9B-D5F7F47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数据分析完整流程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8822-14CA-4AD3-B871-AF94589B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DA085-7E17-4748-9792-BA589257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20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DE0DFB64-0D8E-4129-8D15-5BE804B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05FBD-19D5-4AD0-9DA0-1421D13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95F05-7277-482E-8208-CA2A74E8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ABBD-77CB-4619-9699-A8E23E6D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1 定义问题与决策  2 明确口径和维度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44BA3EBE-DB86-42AE-BF5A-C63B71EE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B0B38-C91D-4EC8-A571-CD9B2B2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4BEF0-494F-4317-9BD8-892C4E76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5CDCE-A255-4CCE-A313-7177C4BE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3 整理数据与脱敏  4 选择上传路径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FAC465AD-08BB-414D-94A0-1991905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E7751-6C36-4085-82D7-89D33113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F7690-2ACB-48F3-8D55-CCC00642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25B13-A49D-47CF-8CE6-E7CA84ED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5 选择专家并挂文件  6 六要素写任务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D648FC2C-7402-4AB5-85D0-D2A2E89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5F79A-DF03-4D8E-8429-4F2F3EE9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5CC01-4753-45D1-A4FB-1FF9AE1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32425-CBDA-40BB-839B-014922F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7 看执行、校验证据  8 沉淀结果并反馈</a:t>
            </a:r>
          </a:p>
        </p:txBody>
      </p:sp>
    </p:spTree>
    <p:extLst>
      <p:ext uri="{BB962C8B-B14F-4D97-AF65-F5344CB8AC3E}">
        <p14:creationId xmlns:p14="http://schemas.microsoft.com/office/powerpoint/2010/main" val="11686969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D5F3D36-19C3-450B-9DC5-CBA95A2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03.3 · 文件检查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E7E4DC-1786-4A9F-AE7E-954A2EE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挂载模拟经营数据：发送前做最后检查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FB240-4FD4-46DF-9E27-D83ECD84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4F662-26C9-4E56-951B-E70E5033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21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DDAADE5E-C3DE-4D24-9500-B6CD8996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cc4690ffe4b5b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C943519D-FC9F-4877-9DE7-F671A8BC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343E-307C-47EE-B8FD-F902579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25984-E1D5-4E32-9881-6E918F3D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4B98D-2E55-48E3-BE08-DCD5F882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确认文件名和版本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328C394A-7B19-487C-A9B9-A514FFEA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0F78B-D808-4A45-B0B5-9BC1A215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E9005-148E-477B-8541-1E0CE113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00AF1-FDDB-46F7-A50F-64495DB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检查是否选中数据分析专家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7BFCDE35-AB8D-4366-9E9F-EB288FA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036D0-3CBD-4C89-84D8-BF7DA03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61887-C9E3-46BB-8610-6768DA7C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D0BD4-26D8-4D6C-8060-50FE85E3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不要上传真实敏感数据做练习</a:t>
            </a:r>
          </a:p>
        </p:txBody>
      </p:sp>
    </p:spTree>
    <p:extLst>
      <p:ext uri="{BB962C8B-B14F-4D97-AF65-F5344CB8AC3E}">
        <p14:creationId xmlns:p14="http://schemas.microsoft.com/office/powerpoint/2010/main" val="18450215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6AEA203-4245-4735-B0B0-567E297E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03.3 · 提问示例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C1D55F-5988-4BCF-AD40-E94ACC36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六要素提示词：让输出可验证、可行动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428A4-76F9-4A24-9408-EFD0C15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73B27-145D-477E-9A83-8FCD8AB8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22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4B7E2E4-88CF-4F40-A9BD-89407D13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6f2267b514319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46A8005A-8A5E-4180-AC88-69525F48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110B4-000C-4E39-AF47-3C847F20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6D73C-D112-44BC-8BF5-B9C7E68A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02467-170B-4627-B355-2ECED2B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对象 / 范围 / 口径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C2D05E1D-0A34-4737-980C-BB2D2210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11174-A581-45DC-9CEF-DDBA4277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1CACB-F5AA-45EC-9617-067126F9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83B8F-7E66-493A-B967-FC255F85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分析任务 / 输出结构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B195F7CD-620E-4055-83AE-D17FA56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0E01A-323F-464F-A4F5-7D6340B7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C3DF2-7FBE-4DA8-81EC-D311219F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07CB8-DCB9-4973-A5AC-306D7106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约束：引用数据，不补造数字</a:t>
            </a:r>
          </a:p>
        </p:txBody>
      </p:sp>
    </p:spTree>
    <p:extLst>
      <p:ext uri="{BB962C8B-B14F-4D97-AF65-F5344CB8AC3E}">
        <p14:creationId xmlns:p14="http://schemas.microsoft.com/office/powerpoint/2010/main" val="630045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C98079C4-96F4-45D6-817D-41D3DA4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03.3 · 执行与异常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A991C8-B332-4866-B838-1954730B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真实测试结果：出现执行异常，怎么处理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39097-2D8E-4F2B-921D-BF45F31A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01142-576D-41DE-B442-299499E2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23 / 26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87EF34F-CB54-48E1-A607-36D9458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3620750" cy="7667625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5848cf8d54449"/>
          <a:stretch xmlns:a="http://schemas.openxmlformats.org/drawingml/2006/main"/>
        </p:blipFill>
        <p:spPr>
          <a:xfrm xmlns:a="http://schemas.openxmlformats.org/drawingml/2006/main">
            <a:off x="1010708" y="1838325"/>
            <a:ext cx="13123333" cy="7381875"/>
          </a:xfrm>
          <a:prstGeom xmlns:a="http://schemas.openxmlformats.org/drawingml/2006/main" prst="roundRect">
            <a:avLst>
              <a:gd name="adj" fmla="val 1548"/>
            </a:avLst>
          </a:prstGeom>
        </p:spPr>
      </p:pic>
      <p:sp>
        <p:nvSpPr>
          <p:cNvPr id="7" name="point-1">
            <a:extLst xmlns:a="http://schemas.openxmlformats.org/drawingml/2006/main">
              <a:ext uri="{FF2B5EF4-FFF2-40B4-BE49-F238E27FC236}">
                <a16:creationId xmlns:a16="http://schemas.microsoft.com/office/drawing/2014/main" id="{4178F555-14B5-4E35-86F3-7E1654DB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190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06C21-F9D9-4AED-BFCE-9DF4FDD6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95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06C83-7F0C-4F42-A35D-A770113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25622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5DE01-DF8D-4278-B380-BA3450D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4003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先保留会话与错误画面</a:t>
            </a:r>
          </a:p>
        </p:txBody>
      </p:sp>
      <p:sp>
        <p:nvSpPr>
          <p:cNvPr id="11" name="point-2">
            <a:extLst xmlns:a="http://schemas.openxmlformats.org/drawingml/2006/main">
              <a:ext uri="{FF2B5EF4-FFF2-40B4-BE49-F238E27FC236}">
                <a16:creationId xmlns:a16="http://schemas.microsoft.com/office/drawing/2014/main" id="{7CBF0EC5-08BE-491E-B996-5A75B741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09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3A053-B700-4D10-9760-E7B3043F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0DE3E-741F-4503-9A39-4BD82E4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7814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7D440-1D77-4E48-9E1F-4BDE884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36195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缩小范围、检查文件后重试</a:t>
            </a:r>
          </a:p>
        </p:txBody>
      </p:sp>
      <p:sp>
        <p:nvSpPr>
          <p:cNvPr id="15" name="point-3">
            <a:extLst xmlns:a="http://schemas.openxmlformats.org/drawingml/2006/main">
              <a:ext uri="{FF2B5EF4-FFF2-40B4-BE49-F238E27FC236}">
                <a16:creationId xmlns:a16="http://schemas.microsoft.com/office/drawing/2014/main" id="{16DB003B-C62A-46F8-854B-E364DC68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291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817BE-1078-4AE1-903B-6E759D5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B7C87-C547-4219-BC9F-DAA532E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000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A00"/>
                </a:solidFill>
              </a:defRPr>
            </a:pPr>
            <a:r>
              <a:rPr sz="10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570CB-0455-4791-A952-7D1625BC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838700"/>
            <a:ext cx="1952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1A16"/>
                </a:solidFill>
              </a:defRPr>
            </a:pPr>
            <a:r>
              <a:rPr sz="1425" b="1">
                <a:solidFill>
                  <a:srgbClr val="211A16"/>
                </a:solidFill>
              </a:rPr>
              <a:t>仍失败 → 我要吐槽 → 钉钉提交</a:t>
            </a:r>
          </a:p>
        </p:txBody>
      </p:sp>
    </p:spTree>
    <p:extLst>
      <p:ext uri="{BB962C8B-B14F-4D97-AF65-F5344CB8AC3E}">
        <p14:creationId xmlns:p14="http://schemas.microsoft.com/office/powerpoint/2010/main" val="446381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DED2D2A-61C5-4DB5-96A5-7D2F254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03.4–03.5 · 横向工作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D89522-6D63-47E0-97C9-0CAB9E46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日常办公与知识问答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581E8-AD8F-440E-81B6-1945799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D9E51-C2F8-422B-8AAC-BE35446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24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23544780-F5AF-4E67-92C6-21BE0AB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B398D-20D1-4F7B-A812-5438914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8AAD4-84B9-4005-BB53-86BF80DC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E3F6B-A723-45FD-A896-73E2256C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日常办公：写作、整理、消息、待办、日程等协同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FB99C73C-63C7-4A4F-B84D-60AF2376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65F38-C0B4-4629-8B03-19CF56D1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BF460-BE2F-4F01-B8E6-66AD86E4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CB2F4-D76C-4EAD-ABC1-E6B0873C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知识问答：限定知识库和文件范围后提问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5DA40E6E-77A3-41A6-80F7-EC13CCC5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3BDFD-4866-44B5-8E64-EC02667B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857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DB348-AA3B-41CB-ABC9-5BB13530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3835A-088F-424A-BCE1-D4C1694D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671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共同要求：写清对象、期限、格式，重要内容回查</a:t>
            </a:r>
          </a:p>
        </p:txBody>
      </p:sp>
    </p:spTree>
    <p:extLst>
      <p:ext uri="{BB962C8B-B14F-4D97-AF65-F5344CB8AC3E}">
        <p14:creationId xmlns:p14="http://schemas.microsoft.com/office/powerpoint/2010/main" val="782968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5C965B6F-C392-4060-A8F6-77B62876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04 · 反馈与共建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4042E4-CFDD-42AF-B052-9A0D811D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让他越干越好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A5D9C-5B38-488F-A44A-1FFB984F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01259-6EB4-4223-947D-ABD408A6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25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48680380-4186-4EFD-AB6A-50801709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E8289-17E8-4FA7-96B6-7B9C332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45E39-EAA5-493A-87DD-3BE19DF5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2EF73-CCAF-426B-B0D0-EF0ECF9B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入口：平台“我要吐槽”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6FFA0093-6616-4920-9A89-F55229C2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822A3-5070-4BAF-ACF4-B31D11E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CEF46-7977-4A74-BA39-3F10CD2E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7ECD8-D44C-4FE5-938E-623B3AC9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去向：跳转钉钉链接填写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661BF177-D7E3-4898-8CC9-C045A86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6BE54-D9C0-4541-B0DE-FE631651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386B6-92EA-4851-9210-FD400467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8345E-6719-4AD1-AFBD-83B30526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内容：场景、步骤、期望、实际、时间、影响、脱敏截图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63201426-1815-4D9B-8722-D49575A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8C0CA-27CC-4390-A8D1-A5A3D74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0232D-0851-4F9E-A60E-91D11419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8B67F-3C7C-4A88-9C00-F6C9A8FB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正向反馈同样重要：说明好用在哪里、节省了什么</a:t>
            </a:r>
          </a:p>
        </p:txBody>
      </p:sp>
    </p:spTree>
    <p:extLst>
      <p:ext uri="{BB962C8B-B14F-4D97-AF65-F5344CB8AC3E}">
        <p14:creationId xmlns:p14="http://schemas.microsoft.com/office/powerpoint/2010/main" val="13203052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387C3DE7-31DE-4EAC-ADA6-FA36BB9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把问题变成下一轮改进输入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9B31BD-ABAC-4F6A-ABA6-EF32C6E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581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1A16"/>
                </a:solidFill>
              </a:defRPr>
            </a:pPr>
            <a:r>
              <a:rPr sz="3300" b="1">
                <a:solidFill>
                  <a:srgbClr val="211A16"/>
                </a:solidFill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FAED4-59D1-4AE8-B607-E0026A4D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1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天马智擎 · 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70F3D-0812-4CEE-97FD-7C86D00B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9810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75E"/>
                </a:solidFill>
              </a:defRPr>
            </a:pPr>
            <a:r>
              <a:rPr sz="900" b="0">
                <a:solidFill>
                  <a:srgbClr val="76675E"/>
                </a:solidFill>
              </a:rPr>
              <a:t>26 / 26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2B7159EF-916D-4524-964D-AB1FBAE4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FCE4C-778E-480A-ACC3-F4C2003D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9D74E-E3DC-4245-8089-19168B1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941A6-C61F-446A-8C13-6D3862BB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为什么找不到知识文件？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65AD238D-A947-4823-8EA1-BCFBC34E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EBA2D-CFD8-4E05-A03C-A5D1483A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FF73D-44AF-44C4-8362-2D983C60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6C02F-A8CC-43D9-810D-6DBA4209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671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什么时候用日常办公，什么时候用专家？</a:t>
            </a:r>
          </a:p>
        </p:txBody>
      </p:sp>
      <p:sp>
        <p:nvSpPr>
          <p:cNvPr id="13" name="card-3">
            <a:extLst xmlns:a="http://schemas.openxmlformats.org/drawingml/2006/main">
              <a:ext uri="{FF2B5EF4-FFF2-40B4-BE49-F238E27FC236}">
                <a16:creationId xmlns:a16="http://schemas.microsoft.com/office/drawing/2014/main" id="{5C06738F-95B2-4BDB-BCD2-4DCBBB25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BFE0-0405-41CB-9442-482AF5A4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AF725-70C5-4397-8BCF-429FE61A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F8146-4069-4152-80C3-4A0EC6D5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数据分析异常后先做什么？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060C0D69-269F-4A0A-9215-CF2189C6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18FD1-6119-467B-8FB3-F009E5A4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34000"/>
            <a:ext cx="742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596C5-75EE-4660-9CDF-C948DE4A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3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4E47D-2302-485A-95EB-FBAEB999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436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1A16"/>
                </a:solidFill>
              </a:defRPr>
            </a:pPr>
            <a:r>
              <a:rPr sz="1875" b="1">
                <a:solidFill>
                  <a:srgbClr val="211A16"/>
                </a:solidFill>
              </a:rPr>
              <a:t>工作台为什么和同事看到的不一样？</a:t>
            </a:r>
          </a:p>
        </p:txBody>
      </p:sp>
    </p:spTree>
    <p:extLst>
      <p:ext uri="{BB962C8B-B14F-4D97-AF65-F5344CB8AC3E}">
        <p14:creationId xmlns:p14="http://schemas.microsoft.com/office/powerpoint/2010/main" val="1020807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2026-08-08T04:39:29.1910000Z</dcterms:created>
  <dcterms:modified xsi:type="dcterms:W3CDTF">2026-08-08T04:39:29.1910000Z</dcterms:modified>
</coreProperties>
</file>