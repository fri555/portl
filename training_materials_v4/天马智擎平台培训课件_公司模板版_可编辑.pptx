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0652513d141a3" /><Relationship Type="http://schemas.openxmlformats.org/officeDocument/2006/relationships/extended-properties" Target="/docProps/app.xml" Id="Rceede7ce0bc74b6a" /><Relationship Type="http://schemas.openxmlformats.org/officeDocument/2006/relationships/officeDocument" Target="/ppt/presentation.xml" Id="Rfa8bdd6320e240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18e041fd074f51"/>
  </p:sldMasterIdLst>
  <p:notesMasterIdLst>
    <p:notesMasterId xmlns:r="http://schemas.openxmlformats.org/officeDocument/2006/relationships" r:id="Reb6b142482dc4d8a"/>
  </p:notesMasterIdLst>
  <p:sldIdLst>
    <p:sldId xmlns:r="http://schemas.openxmlformats.org/officeDocument/2006/relationships" id="256" r:id="Re2af6e3666e34d55"/>
    <p:sldId xmlns:r="http://schemas.openxmlformats.org/officeDocument/2006/relationships" id="257" r:id="Rde24cadb2a1f40d5"/>
    <p:sldId xmlns:r="http://schemas.openxmlformats.org/officeDocument/2006/relationships" id="258" r:id="Rfb553277787b4673"/>
    <p:sldId xmlns:r="http://schemas.openxmlformats.org/officeDocument/2006/relationships" id="259" r:id="R3b5a1e687c8b4f5c"/>
    <p:sldId xmlns:r="http://schemas.openxmlformats.org/officeDocument/2006/relationships" id="260" r:id="Rb376838a660b4488"/>
    <p:sldId xmlns:r="http://schemas.openxmlformats.org/officeDocument/2006/relationships" id="261" r:id="R05ec5477b9744020"/>
    <p:sldId xmlns:r="http://schemas.openxmlformats.org/officeDocument/2006/relationships" id="262" r:id="Rde8634f331364ac6"/>
    <p:sldId xmlns:r="http://schemas.openxmlformats.org/officeDocument/2006/relationships" id="263" r:id="R3b63bdff43964e30"/>
    <p:sldId xmlns:r="http://schemas.openxmlformats.org/officeDocument/2006/relationships" id="264" r:id="Rf4d98b9628804e48"/>
    <p:sldId xmlns:r="http://schemas.openxmlformats.org/officeDocument/2006/relationships" id="265" r:id="R9c741eee6bf64d11"/>
    <p:sldId xmlns:r="http://schemas.openxmlformats.org/officeDocument/2006/relationships" id="266" r:id="R4f44b998c3ce4c90"/>
    <p:sldId xmlns:r="http://schemas.openxmlformats.org/officeDocument/2006/relationships" id="267" r:id="Rd3b9224601544b78"/>
    <p:sldId xmlns:r="http://schemas.openxmlformats.org/officeDocument/2006/relationships" id="268" r:id="R65c9e1f602924d94"/>
    <p:sldId xmlns:r="http://schemas.openxmlformats.org/officeDocument/2006/relationships" id="269" r:id="R0fcd466b5d8f46e6"/>
    <p:sldId xmlns:r="http://schemas.openxmlformats.org/officeDocument/2006/relationships" id="270" r:id="R286348ddb4bb4327"/>
    <p:sldId xmlns:r="http://schemas.openxmlformats.org/officeDocument/2006/relationships" id="271" r:id="Reec0e7c25ad04c0c"/>
    <p:sldId xmlns:r="http://schemas.openxmlformats.org/officeDocument/2006/relationships" id="272" r:id="Rcbd0c54fef1646ee"/>
    <p:sldId xmlns:r="http://schemas.openxmlformats.org/officeDocument/2006/relationships" id="273" r:id="R1d9f149b059a4f58"/>
    <p:sldId xmlns:r="http://schemas.openxmlformats.org/officeDocument/2006/relationships" id="274" r:id="R89d396a87eab4a3d"/>
    <p:sldId xmlns:r="http://schemas.openxmlformats.org/officeDocument/2006/relationships" id="275" r:id="Rc8c6a84c7f8047c0"/>
    <p:sldId xmlns:r="http://schemas.openxmlformats.org/officeDocument/2006/relationships" id="276" r:id="R997247ea7386481c"/>
    <p:sldId xmlns:r="http://schemas.openxmlformats.org/officeDocument/2006/relationships" id="277" r:id="Raf20ee7a6f2c4109"/>
    <p:sldId xmlns:r="http://schemas.openxmlformats.org/officeDocument/2006/relationships" id="278" r:id="Rd6023a9d9b2240ba"/>
    <p:sldId xmlns:r="http://schemas.openxmlformats.org/officeDocument/2006/relationships" id="279" r:id="R256f063d169d40e1"/>
    <p:sldId xmlns:r="http://schemas.openxmlformats.org/officeDocument/2006/relationships" id="280" r:id="Rac315837f37a42d7"/>
    <p:sldId xmlns:r="http://schemas.openxmlformats.org/officeDocument/2006/relationships" id="281" r:id="R92e5ac7a601547f4"/>
    <p:sldId xmlns:r="http://schemas.openxmlformats.org/officeDocument/2006/relationships" id="282" r:id="R9cb3c4c537264d54"/>
    <p:sldId xmlns:r="http://schemas.openxmlformats.org/officeDocument/2006/relationships" id="283" r:id="R092dc234dfbd45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1ec01c2364794" /><Relationship Type="http://schemas.openxmlformats.org/officeDocument/2006/relationships/slideMaster" Target="/ppt/slideMasters/slideMaster1.xml" Id="R7a18e041fd074f51" /><Relationship Type="http://schemas.openxmlformats.org/officeDocument/2006/relationships/notesMaster" Target="/ppt/notesMasters/notesMaster1.xml" Id="Reb6b142482dc4d8a" /><Relationship Type="http://schemas.openxmlformats.org/officeDocument/2006/relationships/presProps" Target="/ppt/presProps.xml" Id="R1c6bcc4363904286" /><Relationship Type="http://schemas.openxmlformats.org/officeDocument/2006/relationships/tableStyles" Target="/ppt/tableStyles.xml" Id="R9736768494084096" /><Relationship Type="http://schemas.openxmlformats.org/officeDocument/2006/relationships/slide" Target="/ppt/slides/slide1.xml" Id="Re2af6e3666e34d55" /><Relationship Type="http://schemas.openxmlformats.org/officeDocument/2006/relationships/slide" Target="/ppt/slides/slide2.xml" Id="Rde24cadb2a1f40d5" /><Relationship Type="http://schemas.openxmlformats.org/officeDocument/2006/relationships/slide" Target="/ppt/slides/slide3.xml" Id="Rfb553277787b4673" /><Relationship Type="http://schemas.openxmlformats.org/officeDocument/2006/relationships/slide" Target="/ppt/slides/slide4.xml" Id="R3b5a1e687c8b4f5c" /><Relationship Type="http://schemas.openxmlformats.org/officeDocument/2006/relationships/slide" Target="/ppt/slides/slide5.xml" Id="Rb376838a660b4488" /><Relationship Type="http://schemas.openxmlformats.org/officeDocument/2006/relationships/slide" Target="/ppt/slides/slide6.xml" Id="R05ec5477b9744020" /><Relationship Type="http://schemas.openxmlformats.org/officeDocument/2006/relationships/slide" Target="/ppt/slides/slide7.xml" Id="Rde8634f331364ac6" /><Relationship Type="http://schemas.openxmlformats.org/officeDocument/2006/relationships/slide" Target="/ppt/slides/slide8.xml" Id="R3b63bdff43964e30" /><Relationship Type="http://schemas.openxmlformats.org/officeDocument/2006/relationships/slide" Target="/ppt/slides/slide9.xml" Id="Rf4d98b9628804e48" /><Relationship Type="http://schemas.openxmlformats.org/officeDocument/2006/relationships/slide" Target="/ppt/slides/slide10.xml" Id="R9c741eee6bf64d11" /><Relationship Type="http://schemas.openxmlformats.org/officeDocument/2006/relationships/slide" Target="/ppt/slides/slide11.xml" Id="R4f44b998c3ce4c90" /><Relationship Type="http://schemas.openxmlformats.org/officeDocument/2006/relationships/slide" Target="/ppt/slides/slide12.xml" Id="Rd3b9224601544b78" /><Relationship Type="http://schemas.openxmlformats.org/officeDocument/2006/relationships/slide" Target="/ppt/slides/slide13.xml" Id="R65c9e1f602924d94" /><Relationship Type="http://schemas.openxmlformats.org/officeDocument/2006/relationships/slide" Target="/ppt/slides/slide14.xml" Id="R0fcd466b5d8f46e6" /><Relationship Type="http://schemas.openxmlformats.org/officeDocument/2006/relationships/slide" Target="/ppt/slides/slide15.xml" Id="R286348ddb4bb4327" /><Relationship Type="http://schemas.openxmlformats.org/officeDocument/2006/relationships/slide" Target="/ppt/slides/slide16.xml" Id="Reec0e7c25ad04c0c" /><Relationship Type="http://schemas.openxmlformats.org/officeDocument/2006/relationships/slide" Target="/ppt/slides/slide17.xml" Id="Rcbd0c54fef1646ee" /><Relationship Type="http://schemas.openxmlformats.org/officeDocument/2006/relationships/slide" Target="/ppt/slides/slide18.xml" Id="R1d9f149b059a4f58" /><Relationship Type="http://schemas.openxmlformats.org/officeDocument/2006/relationships/slide" Target="/ppt/slides/slide19.xml" Id="R89d396a87eab4a3d" /><Relationship Type="http://schemas.openxmlformats.org/officeDocument/2006/relationships/slide" Target="/ppt/slides/slide20.xml" Id="Rc8c6a84c7f8047c0" /><Relationship Type="http://schemas.openxmlformats.org/officeDocument/2006/relationships/slide" Target="/ppt/slides/slide21.xml" Id="R997247ea7386481c" /><Relationship Type="http://schemas.openxmlformats.org/officeDocument/2006/relationships/slide" Target="/ppt/slides/slide22.xml" Id="Raf20ee7a6f2c4109" /><Relationship Type="http://schemas.openxmlformats.org/officeDocument/2006/relationships/slide" Target="/ppt/slides/slide23.xml" Id="Rd6023a9d9b2240ba" /><Relationship Type="http://schemas.openxmlformats.org/officeDocument/2006/relationships/slide" Target="/ppt/slides/slide24.xml" Id="R256f063d169d40e1" /><Relationship Type="http://schemas.openxmlformats.org/officeDocument/2006/relationships/slide" Target="/ppt/slides/slide25.xml" Id="Rac315837f37a42d7" /><Relationship Type="http://schemas.openxmlformats.org/officeDocument/2006/relationships/slide" Target="/ppt/slides/slide26.xml" Id="R92e5ac7a601547f4" /><Relationship Type="http://schemas.openxmlformats.org/officeDocument/2006/relationships/slide" Target="/ppt/slides/slide27.xml" Id="R9cb3c4c537264d54" /><Relationship Type="http://schemas.openxmlformats.org/officeDocument/2006/relationships/slide" Target="/ppt/slides/slide28.xml" Id="R092dc234dfbd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211d5ae8144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bf436e6144ca7" /><Relationship Type="http://schemas.openxmlformats.org/officeDocument/2006/relationships/notesMaster" Target="/ppt/notesMasters/notesMaster1.xml" Id="Rfaba1bc20fbb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54c661fb004f3c" /><Relationship Type="http://schemas.openxmlformats.org/officeDocument/2006/relationships/notesMaster" Target="/ppt/notesMasters/notesMaster1.xml" Id="R59a9f40900dd40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1f6f1ecef42d2" /><Relationship Type="http://schemas.openxmlformats.org/officeDocument/2006/relationships/notesMaster" Target="/ppt/notesMasters/notesMaster1.xml" Id="R6f8cf2494a49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0b5b66f6564f94" /><Relationship Type="http://schemas.openxmlformats.org/officeDocument/2006/relationships/notesMaster" Target="/ppt/notesMasters/notesMaster1.xml" Id="Re2dd0c4341bd4b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988bf053144512" /><Relationship Type="http://schemas.openxmlformats.org/officeDocument/2006/relationships/notesMaster" Target="/ppt/notesMasters/notesMaster1.xml" Id="Rf2aae1c6b65a43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eb0dea3cdf464c" /><Relationship Type="http://schemas.openxmlformats.org/officeDocument/2006/relationships/notesMaster" Target="/ppt/notesMasters/notesMaster1.xml" Id="Raa0d380c2e7a43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832235908a48a2" /><Relationship Type="http://schemas.openxmlformats.org/officeDocument/2006/relationships/notesMaster" Target="/ppt/notesMasters/notesMaster1.xml" Id="R2e32821d969648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108f4d7e74644" /><Relationship Type="http://schemas.openxmlformats.org/officeDocument/2006/relationships/notesMaster" Target="/ppt/notesMasters/notesMaster1.xml" Id="R46ce9c46b6784f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c219b27bfa4c12" /><Relationship Type="http://schemas.openxmlformats.org/officeDocument/2006/relationships/notesMaster" Target="/ppt/notesMasters/notesMaster1.xml" Id="R1645aa2955dd48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dfc0daf564ab7" /><Relationship Type="http://schemas.openxmlformats.org/officeDocument/2006/relationships/notesMaster" Target="/ppt/notesMasters/notesMaster1.xml" Id="Rc01b9f1abce748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d081f9160d4c9a" /><Relationship Type="http://schemas.openxmlformats.org/officeDocument/2006/relationships/notesMaster" Target="/ppt/notesMasters/notesMaster1.xml" Id="R25a1327466664e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c3678a162d424f" /><Relationship Type="http://schemas.openxmlformats.org/officeDocument/2006/relationships/notesMaster" Target="/ppt/notesMasters/notesMaster1.xml" Id="R0f403678c10c4f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3242594ba84f67" /><Relationship Type="http://schemas.openxmlformats.org/officeDocument/2006/relationships/notesMaster" Target="/ppt/notesMasters/notesMaster1.xml" Id="Rfac20d3902ce42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e0e2422bee4409" /><Relationship Type="http://schemas.openxmlformats.org/officeDocument/2006/relationships/notesMaster" Target="/ppt/notesMasters/notesMaster1.xml" Id="Raf2822b2865b4d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8b9a7a77004487" /><Relationship Type="http://schemas.openxmlformats.org/officeDocument/2006/relationships/notesMaster" Target="/ppt/notesMasters/notesMaster1.xml" Id="Racfcb79bf2ab42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833d7e96f448c7" /><Relationship Type="http://schemas.openxmlformats.org/officeDocument/2006/relationships/notesMaster" Target="/ppt/notesMasters/notesMaster1.xml" Id="Rf9e019d6df5e41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3561e6b61640a7" /><Relationship Type="http://schemas.openxmlformats.org/officeDocument/2006/relationships/notesMaster" Target="/ppt/notesMasters/notesMaster1.xml" Id="Rdea34c69d8c44e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03305b421644e4" /><Relationship Type="http://schemas.openxmlformats.org/officeDocument/2006/relationships/notesMaster" Target="/ppt/notesMasters/notesMaster1.xml" Id="R2c587a1879ee40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23d39d14814bb3" /><Relationship Type="http://schemas.openxmlformats.org/officeDocument/2006/relationships/notesMaster" Target="/ppt/notesMasters/notesMaster1.xml" Id="R4fd843290dfe42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ab8b5d44184653" /><Relationship Type="http://schemas.openxmlformats.org/officeDocument/2006/relationships/notesMaster" Target="/ppt/notesMasters/notesMaster1.xml" Id="Ra8a37fb605f648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eb23c7d9e54e34" /><Relationship Type="http://schemas.openxmlformats.org/officeDocument/2006/relationships/notesMaster" Target="/ppt/notesMasters/notesMaster1.xml" Id="Rfe8402d8872940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c2552411414293" /><Relationship Type="http://schemas.openxmlformats.org/officeDocument/2006/relationships/notesMaster" Target="/ppt/notesMasters/notesMaster1.xml" Id="Rb2680dcd3b5c42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992e121b144d00" /><Relationship Type="http://schemas.openxmlformats.org/officeDocument/2006/relationships/notesMaster" Target="/ppt/notesMasters/notesMaster1.xml" Id="R276814f7d45e4e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9cbd08424f4ecb" /><Relationship Type="http://schemas.openxmlformats.org/officeDocument/2006/relationships/notesMaster" Target="/ppt/notesMasters/notesMaster1.xml" Id="R15ce45f92c034c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8ce018d8e7421c" /><Relationship Type="http://schemas.openxmlformats.org/officeDocument/2006/relationships/notesMaster" Target="/ppt/notesMasters/notesMaster1.xml" Id="R9d2a8a5e729346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f3adfd07084780" /><Relationship Type="http://schemas.openxmlformats.org/officeDocument/2006/relationships/notesMaster" Target="/ppt/notesMasters/notesMaster1.xml" Id="R8f9cd53b7fd14c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faa6ed0fbd4f7a" /><Relationship Type="http://schemas.openxmlformats.org/officeDocument/2006/relationships/notesMaster" Target="/ppt/notesMasters/notesMaster1.xml" Id="R5dc4bcdfa05b40a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e9229b8753240fb" /><Relationship Type="http://schemas.openxmlformats.org/officeDocument/2006/relationships/notesMaster" Target="/ppt/notesMasters/notesMaster1.xml" Id="Re5b97dbdae1b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我们不讲复杂技术原理，而是把天马智擎当成一位刚入职的数智员工：先认识它能做什么，再学会给它派活，最后把它放进真实业务。培训结束后，希望大家能独立完成首页对话、文件与知识引用、知识中心问答、任务查看和工作台访问，并知道遇到异常应该怎么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内容按真实使用路径展开。首页是主入口，也是培训重点；知识中心解决资料沉淀和复用；工作台是内部系统入口。后半段用组货、评价和数据分析说明如何与业务结合。最后统一讲异常处理和反馈，不在每个功能页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马智擎选择自研，核心不是为了重复做一个聊天工具，而是解决三类长期问题。第一，内部材料和权限需要在企业可治理的框架里使用；第二，要逐步连接公司的知识和业务系统；第三，要把个人经验沉淀成团队可以复用的方法。这里强调的是降低风险和逐步连接，不代表绝对不会泄漏，也不代表所有内部系统已经自动打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当前是第一版 MVP，已经满足从输入任务、引用材料、调用能力到反馈问题的基本闭环，但仍可能出错。遇到问题先刷新页面或缩小任务范围再试一次；仍失败时在群里说明，或通过“我要吐槽”填写表格。不同账号权限不同，说明文档里的某个智能体或知识库看不到并不一定是故障。登录和权限问题请第一时间联系朝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下面进入首页操作。首页是大家每天最常用的入口，这一部分按真实操作顺序讲：先认识页面区域，再管理会话、选择日常办公或专家模式，接着上传本地文件或引用知识文件，最后把任务写清楚并发送。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录后首先看到首页。顶部标签页用于在首页、知识中心和工作台之间切换；左侧是会话历史区，可以新建、搜索和继续过去的会话；中央是任务输入区，在这里选择日常办公或专家模式、挂载材料、写任务并发送。请大家先确认自己在哪个页面、哪个模式，再开始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正式环境截图：14_home_tabs.png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会话历史区。搜索时建议使用任务名称、文件名或业务对象，不要只用“测试”“分析”这类泛词。一个任务需要补充材料或继续追问时，留在原会话即可；换了业务主题、材料或统计口径时，应新建会话，避免旧材料和旧口径影响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正式环境截图：10_conversation_search.png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办公和专家模式不是普通版与高级版。日常办公适合写作、整理、信息查询，以及消息、待办、日程等通用协同；专家模式适合需要专业方法、专属知识或固定流程的专项任务。如果一个任务既要专业分析又要形成通知、待办或汇报，可以先用专家模式完成分析，再回到日常办公完成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正式环境截图：02_mode_positioning.png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专家模式后，会看到当前账号有权限使用的智能体。不要只看名字就开始提问，先阅读能力说明，确认它解决的问题与自己的任务一致；再准备它需要的输入材料和约束；最后确认输出是否可以核验。智能体数量和可见范围会随账号权限及版本调整，看不到某个智能体属于正常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正式环境截图：03_expert_mode.png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在输入框旁点击添加附件，可以直接上传本地文件。当前页面提示支持常见文档与表格，单文件不超过 10MB，一次最多 3 个。这条路径适合临时、少量、一次性材料。如果文件更大、需要团队复用或长期维护，应先上传到知识中心。上传前仍需确认材料是否可以在当前权限范围内使用。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正式环境截图：05_local_attachment_limits.png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使用知识中心里的材料时，在附件面板切换到知识中心，选择公共或个人空间，再按文件名搜索。文件必须先在知识中心处理成功。找不到时依次检查：是否处理完成、是否选对空间和知识库、文件名是否正确、当前账号是否有权限。选中文件后仍然要写清楚希望基于哪部分内容完成什么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正式环境截图：06_knowledge_picker.png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好任务至少说清六件事：分析对象、范围、口径、具体任务、输出结构和限制条件。发送后如果发现原问题写错或漏了要求，优先使用重新编辑，修改原问题后再次提交；相同输入下希望再尝试一次时，再使用重新生成。重要数字、外部动作和业务判断都要人工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正式环境截图：08_data_analysis_prompt.png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首页附件解决一次性使用，知识中心解决长期沉淀和团队复用。接下来重点看三件事：文件放到哪里、什么时候算处理完成，以及如何用小智问答和任务中心继续使用这些知识。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从顶部标签页进入知识中心后，先确认公共或个人空间，再进入目标知识库和文件夹。当前培训口径是单文件不超过 50MB、单次最多 100 个，并支持 CSV 等格式。上传完成不等于马上可用，必须等待处理成功后再进行问答或回首页引用。限制若有调整，以发版当日页面提示为准。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正式环境截图：15_knowledge_center_actions.png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智问答适合在当前知识库或已打开文件范围内快速定位制度、流程和业务资料。提问时尽量写清制度名称、版本、时间或关注条款，并要求指出依据。小智的回答帮助我们找信息，但不能替代原文件；涉及制度解释和重要决策时，要回到原文或咨询责任部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正式环境截图：16_xiaozhi_qa.png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分上传、解析或执行任务需要后台处理，可以到任务中心查看状态。任务仍在处理中时不要连续重复提交，以免产生重复任务；成功后再回到对应页面继续使用；失败时记录发生时间、任务名称和错误信息，先刷新或重试一次，仍失败再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正式环境截图：17_task_center.png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流程适合较大、需要多人复用或长期维护的材料。先在知识中心上传到正确位置，等待处理成功；再回到首页，从附件面板选择知识文件；随后选择日常办公或合适的专家智能体，写清任务并发送；最后回查材料、复核结果。请记住：首页是 10MB 和 3 个，知识中心是 50MB 和单次 100 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知识中心讲完后，我们看工作台。这里的定位很明确：它是已配置内部系统的统一入口，方便大家搜索和跳转；它不等于首页对话已经自动读取所有系统数据，实际可见入口和系统内权限都以当前账号为准。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台用于集中进入已经配置的内部系统，可以通过搜索快速定位。不同人员看到的系统卡片可能不一样，这是账号权限和管理员配置造成的正常差异。看到入口不等于首页对话已经自动读取该系统数据，也不等于拥有系统内的全部权限。登录或权限异常请第一时间联系朝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正式环境截图：13_workbench.png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会操作只是第一步，真正的价值来自把工具放进业务流程。下面用组货专家、评价分析师和数据分析三个场景，说明怎样准备输入、怎样要求输出，以及怎样把结果转成下一步行动。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货专家适合在预算、人数、性别比例和品类偏好明确时生成组合方案，结果要核对金额、数量、SKU、库存和系统假设。评价分析师适合从评价数据中发现问题线索，结果应按问题类型、品牌或商品、地区和物流等维度归类，并给出证据和影响范围。两类专家都依赖输入质量，数据不足时要明确说明，不能补造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分析不是上传表格后等一句总结，而是一条完整工作流。先明确要支持什么决策，再确认对象、时间、指标和维度；整理字段、单位与敏感信息；根据文件大小和复用需求选择上传路径；选择数据分析专家并发送任务；抽查汇总、异常和证据；最后把结论变成可执行建议，并明确责任人和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中的提示词把要求拆成六类：分析对象、范围、指标口径、分析任务、输出结构和限制条件。例如要求按周、区域、渠道和品类汇总，列出异常证据和人工核验项，并明确所有结论必须引用附件数据、不能补造数字。大家可以替换为自己的字段，但这六类信息尽量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正式环境截图：08_data_analysis_prompt.png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正式环境测试中，数据分析智能体出现了执行异常。遇到这种情况不要连续重复点击。先保留会话、发生时间和错误画面，刷新页面，检查文件格式和任务复杂度，缩小范围后重试一次；如果仍然失败，在群里反馈，或通过“我要吐槽”填写场景、步骤、期望和实际结果，便于团队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正式环境截图：09_data_analysis_processing.png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论是日常办公、专家分析还是知识问答，都遵循三条原则。第一，先选对路径：通用协同走日常办公，专业任务走专家。第二，给足上下文：材料、范围、口径、输出格式和限制写清楚。第三，守住责任边界：AI 可能出错，没有授权的数据不会自动获得，重要数字、外部发送、审批、下单和决策必须由责任人确认。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最后进入反馈和答疑。V1 的价值需要在真实工作中验证：遇到问题要提供可复现信息，想到业务需求要说明痛点和期望结果，好用的地方也要告诉团队为什么有效。接下来先演示反馈入口，再集中回答常见问题。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平台里的“我要吐槽”后，通常会唤起或跳转到钉钉链接填写；浏览器页面本身可能保持不变。高质量反馈要写清业务场景、使用模式或智能体、材料类型、操作步骤、期望结果、实际结果、发生时间和影响，并附脱敏截图。说明文档里暂时体验不了的功能也不用惊慌，如果想到适合实际工作的需求，同样可以填写表格。正向反馈也很重要，请告诉我们哪项能力真正节省了时间、为什么好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正式环境截图：18_feedback_after_click.png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进入问答。登录或权限异常联系朝暮；找不到知识文件时检查处理状态、位置、名称和权限；回答或执行异常先刷新或缩小任务重试，仍失败再反馈；与同事看到的智能体、知识库或工作台入口不同，多数是权限差异；有新的业务场景和需求，可以直接通过表格提交。现场无法确认的问题不要猜，记录后统一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内部资料：天马智擎平台系统使用说明与正式环境实测</a:t>
            </a:r>
          </a:p>
          <a:p xmlns:a="http://schemas.openxmlformats.org/drawingml/2006/main">
            <a:r>
              <a:t>- 视觉参考：天马集团PPT统一模板-20251119版.pptx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2551112ae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8ecf866ad54087" /><Relationship Type="http://schemas.openxmlformats.org/officeDocument/2006/relationships/slideLayout" Target="/ppt/slideLayouts/slideLayout1.xml" Id="R88200cb19ff649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200cb19ff649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0c7b6bbcf4415" /><Relationship Type="http://schemas.openxmlformats.org/officeDocument/2006/relationships/image" Target="/ppt/media/image.jpeg" Id="R598b89674e114fa3" /><Relationship Type="http://schemas.openxmlformats.org/officeDocument/2006/relationships/image" Target="/ppt/media/image.png" Id="R93ab4ec8afd74396" /><Relationship Type="http://schemas.openxmlformats.org/officeDocument/2006/relationships/notesSlide" Target="/ppt/notesSlides/notesSlide1.xml" Id="R419f139f496f42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32e668c764493" /><Relationship Type="http://schemas.openxmlformats.org/officeDocument/2006/relationships/image" Target="/ppt/media/image2.png" Id="R716889b6e31c4fc0" /><Relationship Type="http://schemas.openxmlformats.org/officeDocument/2006/relationships/notesSlide" Target="/ppt/notesSlides/notesSlide2.xml" Id="Rde24ee6fad87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bd2060a61461f" /><Relationship Type="http://schemas.openxmlformats.org/officeDocument/2006/relationships/image" Target="/ppt/media/image3.png" Id="R9d97ca5547ac4c77" /><Relationship Type="http://schemas.openxmlformats.org/officeDocument/2006/relationships/notesSlide" Target="/ppt/notesSlides/notesSlide3.xml" Id="R3968c1ddda1f4c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6b34fd9c9448e" /><Relationship Type="http://schemas.openxmlformats.org/officeDocument/2006/relationships/image" Target="/ppt/media/image4.png" Id="R5b29299ccaaa4fdc" /><Relationship Type="http://schemas.openxmlformats.org/officeDocument/2006/relationships/notesSlide" Target="/ppt/notesSlides/notesSlide4.xml" Id="R75db4b69df17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1137ba1f54b9b" /><Relationship Type="http://schemas.openxmlformats.org/officeDocument/2006/relationships/image" Target="/ppt/media/image2.jpeg" Id="R0aac550b6ea64e1f" /><Relationship Type="http://schemas.openxmlformats.org/officeDocument/2006/relationships/notesSlide" Target="/ppt/notesSlides/notesSlide5.xml" Id="Rc7d1ad9667b044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ec8713a1543d7" /><Relationship Type="http://schemas.openxmlformats.org/officeDocument/2006/relationships/image" Target="/ppt/media/image5.png" Id="Rf1e6ed0d10b947fb" /><Relationship Type="http://schemas.openxmlformats.org/officeDocument/2006/relationships/image" Target="/ppt/media/image6.png" Id="R0cdf6f2e8025427f" /><Relationship Type="http://schemas.openxmlformats.org/officeDocument/2006/relationships/notesSlide" Target="/ppt/notesSlides/notesSlide6.xml" Id="R296395ef834e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0ed521ff14abc" /><Relationship Type="http://schemas.openxmlformats.org/officeDocument/2006/relationships/image" Target="/ppt/media/image7.png" Id="Rac50e1fbe4a54f0c" /><Relationship Type="http://schemas.openxmlformats.org/officeDocument/2006/relationships/image" Target="/ppt/media/image8.png" Id="Rdfc0a0d782a848a8" /><Relationship Type="http://schemas.openxmlformats.org/officeDocument/2006/relationships/notesSlide" Target="/ppt/notesSlides/notesSlide7.xml" Id="R1566dd647a4840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de53cbf50481b" /><Relationship Type="http://schemas.openxmlformats.org/officeDocument/2006/relationships/image" Target="/ppt/media/image9.png" Id="R86b5c5879e9d4028" /><Relationship Type="http://schemas.openxmlformats.org/officeDocument/2006/relationships/image" Target="/ppt/media/image10.png" Id="R9cf4eefd46b44a42" /><Relationship Type="http://schemas.openxmlformats.org/officeDocument/2006/relationships/notesSlide" Target="/ppt/notesSlides/notesSlide8.xml" Id="Rcb34d1af8db243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3976fd1874e5d" /><Relationship Type="http://schemas.openxmlformats.org/officeDocument/2006/relationships/image" Target="/ppt/media/image11.png" Id="R4ac75e2b8b404bb0" /><Relationship Type="http://schemas.openxmlformats.org/officeDocument/2006/relationships/image" Target="/ppt/media/image12.png" Id="R6b9d4dcd2b194245" /><Relationship Type="http://schemas.openxmlformats.org/officeDocument/2006/relationships/notesSlide" Target="/ppt/notesSlides/notesSlide9.xml" Id="R058d4434cbe947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00ad557034111" /><Relationship Type="http://schemas.openxmlformats.org/officeDocument/2006/relationships/image" Target="/ppt/media/image13.png" Id="R17f683c2127142aa" /><Relationship Type="http://schemas.openxmlformats.org/officeDocument/2006/relationships/image" Target="/ppt/media/image14.png" Id="R9471b237cfea4752" /><Relationship Type="http://schemas.openxmlformats.org/officeDocument/2006/relationships/notesSlide" Target="/ppt/notesSlides/notesSlide10.xml" Id="Rd7de0cdd03224f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12e005f54419" /><Relationship Type="http://schemas.openxmlformats.org/officeDocument/2006/relationships/image" Target="/ppt/media/image15.png" Id="R86412af80d2f45c8" /><Relationship Type="http://schemas.openxmlformats.org/officeDocument/2006/relationships/image" Target="/ppt/media/image16.png" Id="R14de7aaba66f4e02" /><Relationship Type="http://schemas.openxmlformats.org/officeDocument/2006/relationships/notesSlide" Target="/ppt/notesSlides/notesSlide11.xml" Id="R7a80d378160243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bd6e3e6474a27" /><Relationship Type="http://schemas.openxmlformats.org/officeDocument/2006/relationships/image" Target="/ppt/media/image17.png" Id="Rf69e649ba4d94fcd" /><Relationship Type="http://schemas.openxmlformats.org/officeDocument/2006/relationships/image" Target="/ppt/media/image18.png" Id="R9fca325ef4bb4525" /><Relationship Type="http://schemas.openxmlformats.org/officeDocument/2006/relationships/notesSlide" Target="/ppt/notesSlides/notesSlide12.xml" Id="R497a92e8d7914d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6b791408849a0" /><Relationship Type="http://schemas.openxmlformats.org/officeDocument/2006/relationships/image" Target="/ppt/media/image3.jpeg" Id="R8735e1ec71694aaf" /><Relationship Type="http://schemas.openxmlformats.org/officeDocument/2006/relationships/notesSlide" Target="/ppt/notesSlides/notesSlide13.xml" Id="R6c789d2cd2014c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d97886b724655" /><Relationship Type="http://schemas.openxmlformats.org/officeDocument/2006/relationships/image" Target="/ppt/media/image19.png" Id="R1993b3d70ff3494e" /><Relationship Type="http://schemas.openxmlformats.org/officeDocument/2006/relationships/image" Target="/ppt/media/image20.png" Id="Rc0d89d7505dd438c" /><Relationship Type="http://schemas.openxmlformats.org/officeDocument/2006/relationships/notesSlide" Target="/ppt/notesSlides/notesSlide14.xml" Id="R0fed22ddf036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e476bae794896" /><Relationship Type="http://schemas.openxmlformats.org/officeDocument/2006/relationships/image" Target="/ppt/media/image21.png" Id="R681558151d934de0" /><Relationship Type="http://schemas.openxmlformats.org/officeDocument/2006/relationships/image" Target="/ppt/media/image22.png" Id="R9d15c95b10d149a7" /><Relationship Type="http://schemas.openxmlformats.org/officeDocument/2006/relationships/notesSlide" Target="/ppt/notesSlides/notesSlide15.xml" Id="Rea211310bd494f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92489205a4ef1" /><Relationship Type="http://schemas.openxmlformats.org/officeDocument/2006/relationships/image" Target="/ppt/media/image23.png" Id="R39b5de1c15984313" /><Relationship Type="http://schemas.openxmlformats.org/officeDocument/2006/relationships/image" Target="/ppt/media/image24.png" Id="R5be1661ae34f4b25" /><Relationship Type="http://schemas.openxmlformats.org/officeDocument/2006/relationships/notesSlide" Target="/ppt/notesSlides/notesSlide16.xml" Id="R1c4092b9233345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4301086d84500" /><Relationship Type="http://schemas.openxmlformats.org/officeDocument/2006/relationships/image" Target="/ppt/media/image25.png" Id="R485ed5fd33834ccc" /><Relationship Type="http://schemas.openxmlformats.org/officeDocument/2006/relationships/notesSlide" Target="/ppt/notesSlides/notesSlide17.xml" Id="Ra1b6b7ba39d24c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b874fbca146d4" /><Relationship Type="http://schemas.openxmlformats.org/officeDocument/2006/relationships/image" Target="/ppt/media/image4.jpeg" Id="Rf436a69650024022" /><Relationship Type="http://schemas.openxmlformats.org/officeDocument/2006/relationships/notesSlide" Target="/ppt/notesSlides/notesSlide18.xml" Id="Rcf6d0427100c4f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99e7575504573" /><Relationship Type="http://schemas.openxmlformats.org/officeDocument/2006/relationships/image" Target="/ppt/media/image26.png" Id="Rdcf2a950907b40cc" /><Relationship Type="http://schemas.openxmlformats.org/officeDocument/2006/relationships/image" Target="/ppt/media/image27.png" Id="R068af73f4a7e4120" /><Relationship Type="http://schemas.openxmlformats.org/officeDocument/2006/relationships/notesSlide" Target="/ppt/notesSlides/notesSlide19.xml" Id="R74e6931890cf49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7dec3a24d46dd" /><Relationship Type="http://schemas.openxmlformats.org/officeDocument/2006/relationships/image" Target="/ppt/media/image5.jpeg" Id="Rf42180fdc9ca48aa" /><Relationship Type="http://schemas.openxmlformats.org/officeDocument/2006/relationships/notesSlide" Target="/ppt/notesSlides/notesSlide20.xml" Id="Rcfb514e21e1040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a0dba777340af" /><Relationship Type="http://schemas.openxmlformats.org/officeDocument/2006/relationships/image" Target="/ppt/media/image28.png" Id="R0d18e60df5bb4e96" /><Relationship Type="http://schemas.openxmlformats.org/officeDocument/2006/relationships/notesSlide" Target="/ppt/notesSlides/notesSlide21.xml" Id="R4b4ef975618b499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a86ea015840c3" /><Relationship Type="http://schemas.openxmlformats.org/officeDocument/2006/relationships/image" Target="/ppt/media/image29.png" Id="R889fb89789e3412f" /><Relationship Type="http://schemas.openxmlformats.org/officeDocument/2006/relationships/notesSlide" Target="/ppt/notesSlides/notesSlide22.xml" Id="Rc7bf101957f443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000752874734" /><Relationship Type="http://schemas.openxmlformats.org/officeDocument/2006/relationships/image" Target="/ppt/media/image30.png" Id="R40953743d42b4118" /><Relationship Type="http://schemas.openxmlformats.org/officeDocument/2006/relationships/image" Target="/ppt/media/image31.png" Id="R1413f975af3b4b17" /><Relationship Type="http://schemas.openxmlformats.org/officeDocument/2006/relationships/notesSlide" Target="/ppt/notesSlides/notesSlide23.xml" Id="R332dc258743e47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74b550a6b4432" /><Relationship Type="http://schemas.openxmlformats.org/officeDocument/2006/relationships/image" Target="/ppt/media/image32.png" Id="R415c9ec94af64fcd" /><Relationship Type="http://schemas.openxmlformats.org/officeDocument/2006/relationships/image" Target="/ppt/media/image33.png" Id="Re6ed842e72b14a2d" /><Relationship Type="http://schemas.openxmlformats.org/officeDocument/2006/relationships/notesSlide" Target="/ppt/notesSlides/notesSlide24.xml" Id="Re3fe1c21883245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7a74e6c88495a" /><Relationship Type="http://schemas.openxmlformats.org/officeDocument/2006/relationships/image" Target="/ppt/media/image34.png" Id="Rd000d2adf09d4a4b" /><Relationship Type="http://schemas.openxmlformats.org/officeDocument/2006/relationships/notesSlide" Target="/ppt/notesSlides/notesSlide25.xml" Id="R6def6b6b375047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9cd2063d744f6" /><Relationship Type="http://schemas.openxmlformats.org/officeDocument/2006/relationships/image" Target="/ppt/media/image6.jpeg" Id="R00911718ae4849c6" /><Relationship Type="http://schemas.openxmlformats.org/officeDocument/2006/relationships/notesSlide" Target="/ppt/notesSlides/notesSlide26.xml" Id="Rab6b33221cb143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bf8f8bccf43d0" /><Relationship Type="http://schemas.openxmlformats.org/officeDocument/2006/relationships/image" Target="/ppt/media/image35.png" Id="Rde943ad879604d96" /><Relationship Type="http://schemas.openxmlformats.org/officeDocument/2006/relationships/image" Target="/ppt/media/image36.png" Id="Rd3134c499df14175" /><Relationship Type="http://schemas.openxmlformats.org/officeDocument/2006/relationships/notesSlide" Target="/ppt/notesSlides/notesSlide27.xml" Id="R7d2eaf8af89046d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1d974eefd4e91" /><Relationship Type="http://schemas.openxmlformats.org/officeDocument/2006/relationships/image" Target="/ppt/media/image37.png" Id="Rde78548cc4474f20" /><Relationship Type="http://schemas.openxmlformats.org/officeDocument/2006/relationships/notesSlide" Target="/ppt/notesSlides/notesSlide28.xml" Id="R0d7552fab88c40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b89674e114f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b4ec8afd74396"/>
          <a:stretch xmlns:a="http://schemas.openxmlformats.org/drawingml/2006/main"/>
        </p:blipFill>
        <p:spPr>
          <a:xfrm xmlns:a="http://schemas.openxmlformats.org/drawingml/2006/main">
            <a:off x="1047750" y="762105"/>
            <a:ext cx="2857500" cy="68559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16548-9501-4165-B12B-3C2234E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TIANMA · INTERNAL TRAINING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424D1A-3B6A-4432-AD76-31196815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219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天马智擎平台培训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2421-B253-4DBD-97D1-B7FA5C7E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认清定位 · 掌握操作 · 用进业务 · 反馈共建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A71B3-2F1A-4C02-A0E9-9D04DC80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FA1F1-471C-4168-AFE2-8F301B3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V1 内部培训版  |  2026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F2FE313C-908B-417B-BC07-1422B65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0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01 / 28</a:t>
            </a:r>
          </a:p>
        </p:txBody>
      </p:sp>
    </p:spTree>
    <p:extLst>
      <p:ext uri="{BB962C8B-B14F-4D97-AF65-F5344CB8AC3E}">
        <p14:creationId xmlns:p14="http://schemas.microsoft.com/office/powerpoint/2010/main" val="1078715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">
            <a:extLst xmlns:a="http://schemas.openxmlformats.org/drawingml/2006/main">
              <a:ext uri="{FF2B5EF4-FFF2-40B4-BE49-F238E27FC236}">
                <a16:creationId xmlns:a16="http://schemas.microsoft.com/office/drawing/2014/main" id="{963A8AFA-09FA-47B7-88A1-2057330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16CBB4C-E2D3-45C2-AE1A-2E8EE8C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学习地图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7A2420-609B-4132-9ABC-9A549C5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今天学完，要带走 5 件事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889b6e31c4fc0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C510D5B-69E9-425D-8C1B-BAC5A5B5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F39423D-515F-4225-BE2E-B0C8CF30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1F3B542-B6D6-461C-91DE-B081FE9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02 / 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21F19-A82E-45C6-8126-FAC41DE0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600"/>
                </a:solidFill>
              </a:defRPr>
            </a:pPr>
            <a:r>
              <a:rPr sz="24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586BC-63E0-404D-8D28-04AC9FE9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95525"/>
            <a:ext cx="1466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FA24D-1472-4B72-9F49-63AB96A3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81200"/>
            <a:ext cx="1352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2727"/>
                </a:solidFill>
              </a:defRPr>
            </a:pPr>
            <a:r>
              <a:rPr sz="1950" b="1">
                <a:solidFill>
                  <a:srgbClr val="272727"/>
                </a:solidFill>
              </a:rPr>
              <a:t>知道为什么自研，以及 V1 的能力边界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178DD-5E04-4714-93FE-AD4F8598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600"/>
                </a:solidFill>
              </a:defRPr>
            </a:pPr>
            <a:r>
              <a:rPr sz="24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61B2E-C501-4F10-B681-4468BCD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48075"/>
            <a:ext cx="1466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9A47E-AE8C-4F70-9635-B853F635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1352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727"/>
                </a:solidFill>
              </a:defRPr>
            </a:pPr>
            <a:r>
              <a:rPr sz="1950" b="0">
                <a:solidFill>
                  <a:srgbClr val="272727"/>
                </a:solidFill>
              </a:rPr>
              <a:t>会用首页：会话、模式、智能体、附件与重新编辑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9DA78-B9A5-4D7F-A842-27037770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600"/>
                </a:solidFill>
              </a:defRPr>
            </a:pPr>
            <a:r>
              <a:rPr sz="24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CAE75-719D-4D46-8E94-8C626C01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00625"/>
            <a:ext cx="1466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B3C5D-6826-4DAE-BE3B-D64FCD1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86300"/>
            <a:ext cx="1352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727"/>
                </a:solidFill>
              </a:defRPr>
            </a:pPr>
            <a:r>
              <a:rPr sz="1950" b="0">
                <a:solidFill>
                  <a:srgbClr val="272727"/>
                </a:solidFill>
              </a:rPr>
              <a:t>会用知识中心：上传、处理、小智问答与任务中心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68332-B0C2-4B59-92FF-80E0DA6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579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600"/>
                </a:solidFill>
              </a:defRPr>
            </a:pPr>
            <a:r>
              <a:rPr sz="2400" b="1">
                <a:solidFill>
                  <a:srgbClr val="FF660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F2A32-AD59-4706-8E6C-44C2C9A6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353175"/>
            <a:ext cx="1466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C355C-2E96-4674-909D-11BA391E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38850"/>
            <a:ext cx="1352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727"/>
                </a:solidFill>
              </a:defRPr>
            </a:pPr>
            <a:r>
              <a:rPr sz="1950" b="0">
                <a:solidFill>
                  <a:srgbClr val="272727"/>
                </a:solidFill>
              </a:rPr>
              <a:t>会从工作台进入已授权的内部系统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F5FED-AB53-4F12-8FCA-FBC1406A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104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600"/>
                </a:solidFill>
              </a:defRPr>
            </a:pPr>
            <a:r>
              <a:rPr sz="2400" b="1">
                <a:solidFill>
                  <a:srgbClr val="FF6600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6EAAF-994F-4835-A202-04E64FB2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705725"/>
            <a:ext cx="1466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37BB1-41ED-4162-87E6-DD9E10B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391400"/>
            <a:ext cx="1352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727"/>
                </a:solidFill>
              </a:defRPr>
            </a:pPr>
            <a:r>
              <a:rPr sz="1950" b="0">
                <a:solidFill>
                  <a:srgbClr val="272727"/>
                </a:solidFill>
              </a:rPr>
              <a:t>会把真实问题通过“我要吐槽”反馈给团队</a:t>
            </a:r>
          </a:p>
        </p:txBody>
      </p:sp>
    </p:spTree>
    <p:extLst>
      <p:ext uri="{BB962C8B-B14F-4D97-AF65-F5344CB8AC3E}">
        <p14:creationId xmlns:p14="http://schemas.microsoft.com/office/powerpoint/2010/main" val="2043115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AC66C510-5A12-4714-8826-AFF86C6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8EA53F4-8A56-4834-BDD8-5856219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01 · 平台定位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3D04E8-34F3-4B86-899A-D49482A7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平台定位：不是“又一个聊天工具”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7ca5547ac4c77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565A8D0-A7EF-4B60-8C8C-0F01D88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1838907-864B-49E2-961A-ADDD109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48595E3-279C-4CE2-A798-77292BC9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03 / 28</a:t>
            </a:r>
          </a:p>
        </p:txBody>
      </p:sp>
      <p:sp>
        <p:nvSpPr>
          <p:cNvPr id="8" name="card-1">
            <a:extLst xmlns:a="http://schemas.openxmlformats.org/drawingml/2006/main">
              <a:ext uri="{FF2B5EF4-FFF2-40B4-BE49-F238E27FC236}">
                <a16:creationId xmlns:a16="http://schemas.microsoft.com/office/drawing/2014/main" id="{85F7DF03-C1B5-47B6-84B1-84688D7E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11C6C-6882-40CC-ACA2-2E9DB2E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ACCF0-6935-46C5-A4CF-11AAAF3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A5DA1-A940-470C-AFFF-0A6E3AB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57625"/>
            <a:ext cx="4305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可治理</a:t>
            </a:r>
          </a:p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让数据、权限和使用规范处于企业可管理范围</a:t>
            </a:r>
          </a:p>
        </p:txBody>
      </p:sp>
      <p:sp>
        <p:nvSpPr>
          <p:cNvPr id="12" name="card-2">
            <a:extLst xmlns:a="http://schemas.openxmlformats.org/drawingml/2006/main">
              <a:ext uri="{FF2B5EF4-FFF2-40B4-BE49-F238E27FC236}">
                <a16:creationId xmlns:a16="http://schemas.microsoft.com/office/drawing/2014/main" id="{C4A7EB26-1CEB-4FAB-AE82-26D9506B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3061E-CEB2-4D06-82BE-85E9B6F5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600CC-38F7-4AAB-90C6-1A64A4A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02CF2-57E5-46F9-A54E-A9318D68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57625"/>
            <a:ext cx="4305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可连接</a:t>
            </a:r>
          </a:p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为内部知识与业务系统逐步打通预留统一入口</a:t>
            </a:r>
          </a:p>
        </p:txBody>
      </p:sp>
      <p:sp>
        <p:nvSpPr>
          <p:cNvPr id="16" name="card-3">
            <a:extLst xmlns:a="http://schemas.openxmlformats.org/drawingml/2006/main">
              <a:ext uri="{FF2B5EF4-FFF2-40B4-BE49-F238E27FC236}">
                <a16:creationId xmlns:a16="http://schemas.microsoft.com/office/drawing/2014/main" id="{69ECC4E2-071C-4D9E-9AB7-47265DFF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2BF47-52C7-4134-8869-5C4DADD3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60118-C4D3-4AF4-AA2B-6D7782EF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8030D-91CA-4EA2-AFA4-6EEB058F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857625"/>
            <a:ext cx="4305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可沉淀</a:t>
            </a:r>
          </a:p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把个人经验转为可复用的知识、提示与智能体</a:t>
            </a:r>
          </a:p>
        </p:txBody>
      </p:sp>
    </p:spTree>
    <p:extLst>
      <p:ext uri="{BB962C8B-B14F-4D97-AF65-F5344CB8AC3E}">
        <p14:creationId xmlns:p14="http://schemas.microsoft.com/office/powerpoint/2010/main" val="739886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">
            <a:extLst xmlns:a="http://schemas.openxmlformats.org/drawingml/2006/main">
              <a:ext uri="{FF2B5EF4-FFF2-40B4-BE49-F238E27FC236}">
                <a16:creationId xmlns:a16="http://schemas.microsoft.com/office/drawing/2014/main" id="{F93A5437-BABA-4C50-B750-D6979E6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7A537B2-DC7D-46C9-BE1F-881C02D5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01 · 平台定位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CFD4BA-0A9C-4229-A24A-F4222D51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V1 使用共识：闭环已具备，稳定性仍在成长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9299ccaaa4fdc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DA34B0B-A5D4-4F8C-A335-114C46C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3721B74-CBC3-4AE6-A14D-8A8A6303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32F7556-31AF-4F6D-A225-434AE54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04 / 28</a:t>
            </a:r>
          </a:p>
        </p:txBody>
      </p:sp>
      <p:sp>
        <p:nvSpPr>
          <p:cNvPr id="8" name="card-1">
            <a:extLst xmlns:a="http://schemas.openxmlformats.org/drawingml/2006/main">
              <a:ext uri="{FF2B5EF4-FFF2-40B4-BE49-F238E27FC236}">
                <a16:creationId xmlns:a16="http://schemas.microsoft.com/office/drawing/2014/main" id="{1D9AE96E-D527-4229-89E3-50846A5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810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28575">
            <a:solidFill>
              <a:srgbClr val="FF66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FAD6F-8DC2-4D60-9446-505CE89B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3D9ED-3F4A-4824-9558-06067C6D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02648-539E-4233-BC4B-8352260B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3162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系统可能出现回答偏差、执行异常或页面问题</a:t>
            </a:r>
          </a:p>
        </p:txBody>
      </p:sp>
      <p:sp>
        <p:nvSpPr>
          <p:cNvPr id="12" name="card-2">
            <a:extLst xmlns:a="http://schemas.openxmlformats.org/drawingml/2006/main">
              <a:ext uri="{FF2B5EF4-FFF2-40B4-BE49-F238E27FC236}">
                <a16:creationId xmlns:a16="http://schemas.microsoft.com/office/drawing/2014/main" id="{44F448A7-1758-460B-AAAB-8EA4AE34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3810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AA593-A513-48CB-A686-42099A6C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5510B-B553-463E-892B-0A2D865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F994F-98BF-4996-965C-38FFE88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57625"/>
            <a:ext cx="3162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遇到异常：先刷新或缩小任务重试；仍不行再反馈</a:t>
            </a:r>
          </a:p>
        </p:txBody>
      </p:sp>
      <p:sp>
        <p:nvSpPr>
          <p:cNvPr id="16" name="card-3">
            <a:extLst xmlns:a="http://schemas.openxmlformats.org/drawingml/2006/main">
              <a:ext uri="{FF2B5EF4-FFF2-40B4-BE49-F238E27FC236}">
                <a16:creationId xmlns:a16="http://schemas.microsoft.com/office/drawing/2014/main" id="{1A9D53B8-9104-45F1-ADEA-D2B311B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3810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88F69-1046-4690-AA5F-84F583EA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E70FB-A902-4F3C-8459-C2AFE796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F6BD1-93DC-4A8C-BD1C-F9D81781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57625"/>
            <a:ext cx="3162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不同人员看到的知识库、智能体和工作台入口可能不同</a:t>
            </a:r>
          </a:p>
        </p:txBody>
      </p:sp>
      <p:sp>
        <p:nvSpPr>
          <p:cNvPr id="20" name="card-4">
            <a:extLst xmlns:a="http://schemas.openxmlformats.org/drawingml/2006/main">
              <a:ext uri="{FF2B5EF4-FFF2-40B4-BE49-F238E27FC236}">
                <a16:creationId xmlns:a16="http://schemas.microsoft.com/office/drawing/2014/main" id="{F65E24EA-53BA-41CD-BE10-A19AAB17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857500"/>
            <a:ext cx="3810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7DD83-B982-49D2-81D8-D01A6871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85750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841FD-693F-46E1-A420-2C1EF63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E1376-EC86-4768-B223-BD95C6D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57625"/>
            <a:ext cx="3162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登录或权限有问题，第一时间联系朝暮</a:t>
            </a:r>
          </a:p>
        </p:txBody>
      </p:sp>
      <p:sp>
        <p:nvSpPr>
          <p:cNvPr id="24" name="notice">
            <a:extLst xmlns:a="http://schemas.openxmlformats.org/drawingml/2006/main">
              <a:ext uri="{FF2B5EF4-FFF2-40B4-BE49-F238E27FC236}">
                <a16:creationId xmlns:a16="http://schemas.microsoft.com/office/drawing/2014/main" id="{2C27EA25-38E6-4AF8-B521-6B54BCD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524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2D20"/>
                </a:solidFill>
              </a:defRPr>
            </a:pPr>
            <a:r>
              <a:rPr sz="2100" b="1">
                <a:solidFill>
                  <a:srgbClr val="D92D20"/>
                </a:solidFill>
              </a:rPr>
              <a:t>先刷新 / 重试 → 仍失败再反馈</a:t>
            </a:r>
          </a:p>
        </p:txBody>
      </p:sp>
    </p:spTree>
    <p:extLst>
      <p:ext uri="{BB962C8B-B14F-4D97-AF65-F5344CB8AC3E}">
        <p14:creationId xmlns:p14="http://schemas.microsoft.com/office/powerpoint/2010/main" val="1973233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c550b6ea64e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CA6D1-C617-4359-92D2-D7A23E7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600"/>
                </a:solidFill>
              </a:defRPr>
            </a:pPr>
            <a:r>
              <a:rPr sz="2025" b="1">
                <a:solidFill>
                  <a:srgbClr val="FF6600"/>
                </a:solidFill>
              </a:rPr>
              <a:t>PART.01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08A580-A66B-4445-91F3-E605D6C1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72727"/>
                </a:solidFill>
              </a:defRPr>
            </a:pPr>
            <a:r>
              <a:rPr sz="4950" b="1">
                <a:solidFill>
                  <a:srgbClr val="272727"/>
                </a:solidFill>
              </a:rPr>
              <a:t>天马智擎首页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6EA5F-464A-4F80-BC2E-A5EAE008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F6F"/>
                </a:solidFill>
              </a:defRPr>
            </a:pPr>
            <a:r>
              <a:rPr sz="1875" b="0">
                <a:solidFill>
                  <a:srgbClr val="6F6F6F"/>
                </a:solidFill>
              </a:rPr>
              <a:t>从找到入口，到把任务说清楚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4FCB-0B92-4729-A7CC-7B68093A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91D9E9A-1CB0-4650-A8B5-EAD2B99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0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1167996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2B06CA95-907F-4C27-93EF-5318A11F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6B778F8-2AB3-4E91-9C58-0310B61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E0D032-906C-446A-B0D0-B8966A3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首页导览：先看清区域，再开始操作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6ed0d10b947fb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3961DB9-8D30-4ADD-A681-D30F809B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E5D4190-CB4D-4BBB-8135-68E4DC9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229CB6F-7DB9-446B-A12D-9A03F2D2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06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5AF9F9B-9C22-43F1-85D5-EC83DE0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f6f2e8025427f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D0BD8F60-881A-4ACB-A1F3-5A38A47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6CF4A-5BE0-43EC-97C7-CBF7F086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8B075-9D32-44B6-B730-E8ED2A3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顶部 Tab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切换首页、知识中心与工作台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15D3520B-9E60-4C98-9D37-2A679BBC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84E12-B455-4F45-B192-4546964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E078E-C86B-4C49-9ED9-13AB395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左侧会话历史区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新建、搜索并继续旧会话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AAA77C9C-307B-4D33-88B5-C404857A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FD3E4-75FF-4747-9759-F88CCE3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A3B60-9D1A-402F-89DF-CCEC7F35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中央任务区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切换模式、选择材料并发送</a:t>
            </a:r>
          </a:p>
        </p:txBody>
      </p:sp>
    </p:spTree>
    <p:extLst>
      <p:ext uri="{BB962C8B-B14F-4D97-AF65-F5344CB8AC3E}">
        <p14:creationId xmlns:p14="http://schemas.microsoft.com/office/powerpoint/2010/main" val="725324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09E0CC60-75C7-452D-ABC3-A92BCF3F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A24A930-2528-49C5-8AB7-9AB09E3B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D36E91-62C2-48ED-A676-80864CF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会话管理：同一任务继续，不同主题新建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0e1fbe4a54f0c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E224BD7-0F47-4D02-9432-41B7264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112971C-96C4-4CB4-A762-7678C58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3189AED-FD7A-442B-9DFE-BFCD140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07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885DD156-7231-4278-AD48-E1F9896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0a0d782a848a8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61EB13AD-7826-4CB0-B847-1D36547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26699-418F-4724-AD42-66640A6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B9D16-6370-48BA-95FE-49CF9B0A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搜索历史会话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用任务名、文件名或业务对象定位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B67B046E-8B9F-462D-A7CB-4115DB19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33BA7-A111-46C2-82AF-91918999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0C02B-CE1F-487A-BDDE-5738BDB0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继续原会话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适合同一任务的补充与追问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675BD9E9-2875-4D5B-9F15-459CB14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CD8C0-A497-4198-9157-F714CEE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94377-5A11-4BD4-B175-26C615A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新建会话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适合新主题、新材料或新口径</a:t>
            </a:r>
          </a:p>
        </p:txBody>
      </p:sp>
    </p:spTree>
    <p:extLst>
      <p:ext uri="{BB962C8B-B14F-4D97-AF65-F5344CB8AC3E}">
        <p14:creationId xmlns:p14="http://schemas.microsoft.com/office/powerpoint/2010/main" val="1475220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9116136A-586B-4107-98E7-15DF9C6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567DCB9-468C-4F11-B153-F22290C8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DF91F8-DC1D-4857-9141-54FCAA1F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日常办公与专家模式：两条不同的任务路径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5c5879e9d4028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82B69A0-19AB-460A-B4B7-E1C103A2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D62E517-6D1C-4802-8854-76071E1E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3983DE0-743A-4A14-834D-D94D3562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08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C470025-5507-4525-AB11-B718ADF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eefd46b44a42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4D611EBE-8E01-46D9-859E-1661FAAC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A3DD4-E5C3-4F90-820F-7B6512C1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24BFD-BFE6-49DF-9934-51546445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日常办公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通用、轻量、横向协同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0EEB4F09-6E42-4FB4-B504-AB1298C0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7B71D-7FD8-46F0-B17F-10365ADE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715CA-4938-427D-8085-B15F47B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专家模式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专业、复杂、依赖方法与知识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216E0D5E-522D-40BF-A64E-7A848907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3291B-C582-4FAE-BCC1-36F68063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75269-4711-423A-A09F-107D86EA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混合任务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先专家分析，再办公落地</a:t>
            </a:r>
          </a:p>
        </p:txBody>
      </p:sp>
    </p:spTree>
    <p:extLst>
      <p:ext uri="{BB962C8B-B14F-4D97-AF65-F5344CB8AC3E}">
        <p14:creationId xmlns:p14="http://schemas.microsoft.com/office/powerpoint/2010/main" val="1665271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8DE3B7B3-354C-4369-A757-54914C97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AA6CE19-B388-411A-BF9B-250147CE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A2B9D8-337A-40F1-B9EB-8D32DBC7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选择智能体：先匹配任务，再准备输入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75e2b8b404bb0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13FBBB2-BBEF-4B09-9288-B66D6B81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3FB9C01-3F9D-4C7D-8A09-09713396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D01E1BA-80FD-46FC-BCF2-B8EF822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09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313E46A-3159-48CD-BDBA-A72440B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d4dcd2b194245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D920C308-06B2-439B-B85D-0D2112B0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E1DBB-F58C-4C65-96B5-A99A9C3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7C89E-C8D0-485B-996E-023C1954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看能力说明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确认它解决什么问题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78349E80-20E0-4E77-AF82-7C9BB9C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2EE51-FB21-4758-8CA6-226D9FAB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06AEA-C503-4895-9F70-52E8F89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看所需材料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准备必要字段与业务约束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A5D95A2B-E53B-4C67-B220-068E0F34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86531-B998-46E7-9F8B-42CFF876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844CA-3400-440E-9987-4E83FD9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看输出能否验证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关键结果必须人工复核</a:t>
            </a:r>
          </a:p>
        </p:txBody>
      </p:sp>
    </p:spTree>
    <p:extLst>
      <p:ext uri="{BB962C8B-B14F-4D97-AF65-F5344CB8AC3E}">
        <p14:creationId xmlns:p14="http://schemas.microsoft.com/office/powerpoint/2010/main" val="1267438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EC1E7616-803C-4E1E-88C7-1678F85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106BC16-F809-46EC-864B-87A907CA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1434F8-049D-4195-9F73-FD0B831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上传本地文件：适合临时、少量材料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683c2127142aa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831682C-EED9-4532-8AD2-380ED8D7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256290C-6E5A-4F89-95B0-E14CB82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3E1512F-A1E8-47D3-A007-AC230F3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10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D2A880D-40C4-49D4-996F-6CBE47F6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1b237cfea4752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F07FF964-309B-4B8C-B26C-FD7575E9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2B06D-70AC-4C77-A123-FE8CB4DD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6D5C5-A277-4B98-8E6A-1490AAF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常见文档与表格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pdf / doc(x) / xls(x) / txt / md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A7DADB1C-6124-4271-AC51-B3ECC9E4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6E711-4119-4640-BAA0-9F65157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551FF-7938-436E-A4C6-C9A853D8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单文件不超过 10MB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C8F59493-BDA3-4EBC-82C6-393A84CF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C7F37-657F-4AC4-B64E-3E5AF9E4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9C33D-3139-4777-B2A1-70C9DE9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一次最多挂载 3 个文件</a:t>
            </a:r>
          </a:p>
        </p:txBody>
      </p:sp>
    </p:spTree>
    <p:extLst>
      <p:ext uri="{BB962C8B-B14F-4D97-AF65-F5344CB8AC3E}">
        <p14:creationId xmlns:p14="http://schemas.microsoft.com/office/powerpoint/2010/main" val="1489261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CEA9EC8F-F41C-4292-AA2E-B62D927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E32E5C2-9E73-461E-B8D4-7C5860B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D2A676-C303-4CFE-8C5F-2CF6CA4C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引用知识文件：先处理成功，再回首页选择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12af80d2f45c8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51D90D7-4063-4688-A15B-1F3BEC02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78E26FF-B2FC-48B3-A068-C2B9E0E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F2D951E-36A4-4BEE-9923-99E93CE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11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A79FC03-DA69-4D12-89A4-41066C5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e7aaba66f4e02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53A427D1-42CF-4C99-BDFF-8BE1AC6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B2B08-88A3-406E-BB90-D3642893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92FFB-1D9E-4C66-861F-A27176A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选择公共或个人空间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93FFE66C-F218-467C-A36F-13711131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4F851-62B3-41A3-82EF-9338EEEC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9C973-0FF3-4249-9A02-381EF0F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按文件名搜索并确认知识库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40D4F0B9-CEA4-4075-9098-6991F026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095DA-77A5-4FAA-BD82-673FCD9E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5F0D2-E895-4DA5-8E82-EB85A63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找不到时查状态、位置和权限</a:t>
            </a:r>
          </a:p>
        </p:txBody>
      </p:sp>
    </p:spTree>
    <p:extLst>
      <p:ext uri="{BB962C8B-B14F-4D97-AF65-F5344CB8AC3E}">
        <p14:creationId xmlns:p14="http://schemas.microsoft.com/office/powerpoint/2010/main" val="8038567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E7C76D96-AF6C-4A68-B76B-3FB86AD0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E551CAA-37C4-40B6-9E3E-BF81DD4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02 · 天马智擎首页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671F4C-14D6-450A-8422-627EE889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写好任务并发送：让结果可验证、可行动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e649ba4d94fcd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DFA74F0-5AD8-432A-BC38-7ED1B89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D0D1949-1DFF-4742-B284-116B30E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9886EFD-347E-4910-B465-BA61D366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12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FEA5848-63F2-4255-B8F0-0CA83ED1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a325ef4bb4525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2A966DE6-BA7C-417E-8801-B1BBDDA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DD296-237E-4099-B2A4-88B44F6E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CA7DE-FAEA-482C-9E4D-6AA87AA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说清对象、范围和口径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16A86470-A653-4A48-90E3-41D108E7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AA162-EC9D-411B-87CC-8524DE83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F9901-C897-4822-A233-3C188E0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说清任务、输出格式和限制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FF4DFA70-100C-4F84-AC96-B75A4A11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8DFE6-3C2D-4F22-8B21-A57041BB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AEB1B-6707-4EAE-AD18-540D7284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不满意先重新编辑，再决定是否重试</a:t>
            </a:r>
          </a:p>
        </p:txBody>
      </p:sp>
    </p:spTree>
    <p:extLst>
      <p:ext uri="{BB962C8B-B14F-4D97-AF65-F5344CB8AC3E}">
        <p14:creationId xmlns:p14="http://schemas.microsoft.com/office/powerpoint/2010/main" val="789989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5e1ec71694a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B0827-64E6-4D72-89BA-B3138512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600"/>
                </a:solidFill>
              </a:defRPr>
            </a:pPr>
            <a:r>
              <a:rPr sz="2025" b="1">
                <a:solidFill>
                  <a:srgbClr val="FF6600"/>
                </a:solidFill>
              </a:rPr>
              <a:t>PART.02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B771D5-569A-443E-BEA4-BB1EC63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72727"/>
                </a:solidFill>
              </a:defRPr>
            </a:pPr>
            <a:r>
              <a:rPr sz="4950" b="1">
                <a:solidFill>
                  <a:srgbClr val="272727"/>
                </a:solidFill>
              </a:rPr>
              <a:t>知识中心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B51EF-1C24-4D42-85A0-E6A2EEE3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F6F"/>
                </a:solidFill>
              </a:defRPr>
            </a:pPr>
            <a:r>
              <a:rPr sz="1875" b="0">
                <a:solidFill>
                  <a:srgbClr val="6F6F6F"/>
                </a:solidFill>
              </a:rPr>
              <a:t>把一次性附件，沉淀成可复用的知识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E1B1B-F885-4831-8BED-AC89F1B0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38A6B6A-D004-4463-A0E7-80D1958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0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8330873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23C8CC71-5041-4A2E-8DBA-2145F0F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860F76C-7CB3-4EC3-A7C0-C2155110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03 · 知识中心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F59E7F-F5E1-433D-AA11-BD4DC2FA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建设知识库：选对位置，再上传文件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3b3d70ff3494e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5424FBC-4008-499A-A7C4-D996662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AAFA103-3471-48F9-BDD9-7BFC6BE8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1C4CF0D-A8A0-4922-8F55-F7EE0FD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14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C3B0AC82-9DAB-43FF-BA7F-90B4946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89d7505dd438c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119A5F10-724B-45AA-897C-F6CBBBDE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664A5-B74A-4DFA-9E9A-116D730A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AD6D6-7810-4D2F-9349-B6ABDAB0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先确认空间、知识库与文件夹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B48AE531-9E76-4ACA-BBAD-87C7531F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01BF8-826F-42DC-AC80-7129D699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EC3C3-7047-4A17-B889-AF9001B5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单文件不超过 50MB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5E2A88C0-B24D-4F72-B8C3-C88C92D7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63FE5-D2A3-446B-BD10-6033C344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5CB18-8C7F-4B10-8328-91A299FB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单次最多 100 个，等待处理成功</a:t>
            </a:r>
          </a:p>
        </p:txBody>
      </p:sp>
    </p:spTree>
    <p:extLst>
      <p:ext uri="{BB962C8B-B14F-4D97-AF65-F5344CB8AC3E}">
        <p14:creationId xmlns:p14="http://schemas.microsoft.com/office/powerpoint/2010/main" val="13633604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5665C4F0-3AC9-4F58-B825-F96FED87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C729AF3-2EDA-41F4-9F70-B98C3B39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03 · 知识中心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434553-23B7-4DC6-9FB0-9904CEE3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小智问答：在限定知识范围内快速定位信息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558151d934de0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CDF64CF-A6C7-4FFC-901F-B04BC93F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19621AC-F0FD-4E48-8B6C-714EB5F0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3D9753D-DA24-4B44-B98C-7D062D52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15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EBBB36B-6F86-4F06-A177-19679EF5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5c95b10d149a7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704C02CD-1B00-4442-B3D7-DA8BF42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EA245-3F11-453F-9EE0-C610FD9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2F104-BE16-47E5-8B57-139090AC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先进入正确的知识库或文件范围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66BCE7BB-3CD5-4304-8D09-5108312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2BF9E-5150-4FF7-A20E-40FE2B42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44B43-D5E5-469C-B64E-2FFDC92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提问时写清制度、版本、时间或条款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47919B5E-3A15-4A16-BC87-A6A50441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6AB5B-F363-454A-9323-D89A574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4EA05-F9B3-40CF-832F-072583D5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重要答案回查原文件与原文位置</a:t>
            </a:r>
          </a:p>
        </p:txBody>
      </p:sp>
    </p:spTree>
    <p:extLst>
      <p:ext uri="{BB962C8B-B14F-4D97-AF65-F5344CB8AC3E}">
        <p14:creationId xmlns:p14="http://schemas.microsoft.com/office/powerpoint/2010/main" val="165083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0B0CC10F-E9DD-491F-B603-E7F0959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54308B5-62CF-450F-9BEE-91B6B8B0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03 · 知识中心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8B5082-5D2A-4054-BA59-CB792C7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任务中心：查看后台任务是否完成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5de1c15984313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18E8B30-9A0D-482D-B539-2BE02B7A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099EA8-C935-403C-B0F1-832E1B6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2CE3531-FD3B-4A72-BB05-57329D96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16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B3A122C-4460-49FC-BCF3-5EE62D51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1661ae34f4b25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112FC266-BF4A-4210-A43B-C9C0906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E795C-E841-4464-9453-C7E92D35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FF6E5-5E7F-42BE-9C46-1CB42BC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查看处理中、成功或失败状态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F745629A-1F96-4D27-9E57-8DC1408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BFB01-11CF-4901-B906-CEAD3C0D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15303-A454-4A35-B7C4-9AFD1CE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任务较慢时不要连续重复提交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2F96EF84-45F6-494C-A6FC-8E6FD89B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C274F-A65C-488F-A017-2B6FC981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0E8E3-EAA6-46A9-9A4E-B77C6A4C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失败时记录时间、任务和错误信息</a:t>
            </a:r>
          </a:p>
        </p:txBody>
      </p:sp>
    </p:spTree>
    <p:extLst>
      <p:ext uri="{BB962C8B-B14F-4D97-AF65-F5344CB8AC3E}">
        <p14:creationId xmlns:p14="http://schemas.microsoft.com/office/powerpoint/2010/main" val="7739596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">
            <a:extLst xmlns:a="http://schemas.openxmlformats.org/drawingml/2006/main">
              <a:ext uri="{FF2B5EF4-FFF2-40B4-BE49-F238E27FC236}">
                <a16:creationId xmlns:a16="http://schemas.microsoft.com/office/drawing/2014/main" id="{8C873874-56F2-4A33-AB88-13A5685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C187774-1358-4399-B1D6-62BED22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03 · 知识中心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C2A352-9E7D-4D5C-8D5C-B791AE6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模块协同：知识中心 → 首页对话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ed5fd33834ccc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D9957C4-5B6E-4FC4-B0A8-0CEDD970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C298596-5BAE-46B1-865E-DCB14113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2CE5F89-1E99-4D10-81A8-4F676FF8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17 / 28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C86336E8-7575-4AC7-BF61-2BA20D3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1AEF1-F588-4BF7-81E7-BBB6DFC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84FE-6708-4C32-8C7E-962C6C3F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上传到正确知识库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44164-0AA4-405E-AB80-0DF455C8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600"/>
                </a:solidFill>
              </a:defRPr>
            </a:pPr>
            <a:r>
              <a:rPr sz="2850" b="1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A1AAD717-6AB6-4AD7-BF7B-CE7BAB4F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38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28575">
            <a:solidFill>
              <a:srgbClr val="FF66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CCC1E-7168-4EEF-83F2-776733FC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DE95B-9078-40F5-B9C8-EAF8FF36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等待处理成功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1B290-B163-4B7F-8772-291A351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600"/>
                </a:solidFill>
              </a:defRPr>
            </a:pPr>
            <a:r>
              <a:rPr sz="2850" b="1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4D28562C-0469-4A2D-A9D7-C761100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59CFA-7BE2-41F8-A68E-DB6CC701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F380D-39C2-44BA-988E-0341654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回首页选择知识文件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0463B-B5EB-49C5-AA60-09D8C09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095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600"/>
                </a:solidFill>
              </a:defRPr>
            </a:pPr>
            <a:r>
              <a:rPr sz="2850" b="1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E87C727A-2178-43FE-A7FA-324E415B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F406D-D3CD-434F-9179-36787245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8969E-8F36-4628-B665-CBD0DC13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选择日常或专家模式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63DFE-4135-45D2-8147-F073F78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095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600"/>
                </a:solidFill>
              </a:defRPr>
            </a:pPr>
            <a:r>
              <a:rPr sz="2850" b="1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24" name="step-5">
            <a:extLst xmlns:a="http://schemas.openxmlformats.org/drawingml/2006/main">
              <a:ext uri="{FF2B5EF4-FFF2-40B4-BE49-F238E27FC236}">
                <a16:creationId xmlns:a16="http://schemas.microsoft.com/office/drawing/2014/main" id="{01009CC9-6589-42F5-ABB3-51DDA27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238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90E43-7A43-4FCF-AF0B-385ABEAA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5623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E3CD7-A7B4-4EF7-AF4B-A9C06E6F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19100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写清任务并人工复核</a:t>
            </a:r>
          </a:p>
        </p:txBody>
      </p:sp>
      <p:sp>
        <p:nvSpPr>
          <p:cNvPr id="27" name="limits">
            <a:extLst xmlns:a="http://schemas.openxmlformats.org/drawingml/2006/main">
              <a:ext uri="{FF2B5EF4-FFF2-40B4-BE49-F238E27FC236}">
                <a16:creationId xmlns:a16="http://schemas.microsoft.com/office/drawing/2014/main" id="{90023024-7DC1-4003-965D-94DB3FC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667500"/>
            <a:ext cx="1200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600"/>
                </a:solidFill>
              </a:defRPr>
            </a:pPr>
            <a:r>
              <a:rPr sz="2175" b="1">
                <a:solidFill>
                  <a:srgbClr val="FF6600"/>
                </a:solidFill>
              </a:rPr>
              <a:t>首页：≤10MB / 最多3个　　知识中心：≤50MB / 单次最多100个</a:t>
            </a:r>
          </a:p>
        </p:txBody>
      </p:sp>
    </p:spTree>
    <p:extLst>
      <p:ext uri="{BB962C8B-B14F-4D97-AF65-F5344CB8AC3E}">
        <p14:creationId xmlns:p14="http://schemas.microsoft.com/office/powerpoint/2010/main" val="14516273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6a696500240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85BD7-418B-437A-883D-4152E89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600"/>
                </a:solidFill>
              </a:defRPr>
            </a:pPr>
            <a:r>
              <a:rPr sz="2025" b="1">
                <a:solidFill>
                  <a:srgbClr val="FF6600"/>
                </a:solidFill>
              </a:rPr>
              <a:t>PART.03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19C9A1-A6C8-45F0-814F-1F1E96B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72727"/>
                </a:solidFill>
              </a:defRPr>
            </a:pPr>
            <a:r>
              <a:rPr sz="4950" b="1">
                <a:solidFill>
                  <a:srgbClr val="272727"/>
                </a:solidFill>
              </a:rPr>
              <a:t>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5918B-47B0-44B9-85D9-F5E249A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F6F"/>
                </a:solidFill>
              </a:defRPr>
            </a:pPr>
            <a:r>
              <a:rPr sz="1875" b="0">
                <a:solidFill>
                  <a:srgbClr val="6F6F6F"/>
                </a:solidFill>
              </a:rPr>
              <a:t>在权限范围内，快速进入内部系统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5C71E-4C1C-46ED-B6CB-DA7A6EAD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BF25A60-8419-4F3E-A3FF-3C03789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0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1255990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5092D0CB-F267-4F07-900D-A622E23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9FE11D5-F0D0-4194-B107-B0FCEC56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04 · 工作台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F592D-4B60-4D82-827F-AA1D1559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工作台：内部系统的统一入口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2a950907b40cc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4D5EED5-4BF1-4A7E-8595-C2BA3719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FCAE24-4452-4518-AA91-731A61B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61D456E4-4221-4BC5-A678-8FA727BF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19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84428864-5A83-404B-88EB-D0463A2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af73f4a7e4120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44B79131-BD21-4810-BAA9-F8378D12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A0AA7-2284-43D2-B091-3F94737D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5A9E9-C9C1-469B-8581-F819D490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通过顶部标签页进入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98D21AA5-0E36-49F5-BB68-EF66309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594DE-3DAA-4F25-A415-C47436F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34A81-D9EB-4C88-B2FB-D04D890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搜索当前账号可见的系统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AABB13EE-EA2B-402F-B941-B4C0BE7E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054D7-F3D6-40EA-9991-D0305C63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DE736-EF47-4E73-AE7F-59D95E86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入口不同通常来自权限与配置</a:t>
            </a:r>
          </a:p>
        </p:txBody>
      </p:sp>
    </p:spTree>
    <p:extLst>
      <p:ext uri="{BB962C8B-B14F-4D97-AF65-F5344CB8AC3E}">
        <p14:creationId xmlns:p14="http://schemas.microsoft.com/office/powerpoint/2010/main" val="16217433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180fdc9ca48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C9775-C995-44F3-8021-76841B1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600"/>
                </a:solidFill>
              </a:defRPr>
            </a:pPr>
            <a:r>
              <a:rPr sz="2025" b="1">
                <a:solidFill>
                  <a:srgbClr val="FF6600"/>
                </a:solidFill>
              </a:rPr>
              <a:t>PART.04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DA9E45-4385-4619-9113-146DAA1B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72727"/>
                </a:solidFill>
              </a:defRPr>
            </a:pPr>
            <a:r>
              <a:rPr sz="4950" b="1">
                <a:solidFill>
                  <a:srgbClr val="272727"/>
                </a:solidFill>
              </a:rPr>
              <a:t>放进真实业务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40E02-FD84-4801-BCE2-A5565063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F6F"/>
                </a:solidFill>
              </a:defRPr>
            </a:pPr>
            <a:r>
              <a:rPr sz="1875" b="0">
                <a:solidFill>
                  <a:srgbClr val="6F6F6F"/>
                </a:solidFill>
              </a:rPr>
              <a:t>从“能对话”走向“能完成具体任务”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3C9AB-52CD-4A88-83F3-17489FD9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89AA312-8083-4726-B3F4-111E3B51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0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4025259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">
            <a:extLst xmlns:a="http://schemas.openxmlformats.org/drawingml/2006/main">
              <a:ext uri="{FF2B5EF4-FFF2-40B4-BE49-F238E27FC236}">
                <a16:creationId xmlns:a16="http://schemas.microsoft.com/office/drawing/2014/main" id="{FA44D650-3E42-4B51-A231-19C911C9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7456D8E-E241-40FB-B806-AB0002D2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05 · 业务应用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CC7DFE-1272-4E86-900F-9F8851B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两个专家场景：组货与评价分析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8e60df5bb4e96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FE0FBDD-88C5-4771-9F92-F0367D02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437CCBD-F453-41F7-83BC-CEDC720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2403DBD-23F4-4BA2-B8DF-098F1453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21 / 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E0F57-4EF5-46DD-87EE-97E3190E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7524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66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A7E6E-F19D-4F06-8BA9-CD79578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813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6600"/>
                </a:solidFill>
              </a:defRPr>
            </a:pPr>
            <a:r>
              <a:rPr sz="2700" b="1">
                <a:solidFill>
                  <a:srgbClr val="FF6600"/>
                </a:solidFill>
              </a:rPr>
              <a:t>组货专家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F58F8-0CBE-46A8-9FF1-3486A36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B9B26-3283-41DD-B068-8C8A766F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195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输入：预算、人数、性别比例、品类偏好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233C4-2D55-466F-9CDC-DBFD6B4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33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115FC-4586-44C2-9E32-C76525B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输出：商品组合、数量、金额与假设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525A8-4C99-4243-8A83-5849CD56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57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2C371-E933-4098-8A12-818DFFA7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674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复核：预算、库存、SKU、适用人群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B385B-1E59-4A66-8F8D-4A4264AF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7524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B3F0D-C920-4FC7-AFAB-12C00ECA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2727"/>
                </a:solidFill>
              </a:defRPr>
            </a:pPr>
            <a:r>
              <a:rPr sz="2700" b="1">
                <a:solidFill>
                  <a:srgbClr val="272727"/>
                </a:solidFill>
              </a:rPr>
              <a:t>评价分析师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79384-2C3D-4413-91F4-37792965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B8C2-A8A4-4EBC-A975-71A9B13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输入：评价范围、时间、店铺或商品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A227D-D051-4B85-A4B7-9307848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933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62E41-6162-4104-A5B0-FBBD9A47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434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输出：问题归类、证据、影响与优先级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65ECC-2A18-4E40-BAAA-61D29891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57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51D38-8C9F-4EF1-BA38-7F6076D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8674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复核：样本范围、原始评价、原因归因</a:t>
            </a:r>
          </a:p>
        </p:txBody>
      </p:sp>
    </p:spTree>
    <p:extLst>
      <p:ext uri="{BB962C8B-B14F-4D97-AF65-F5344CB8AC3E}">
        <p14:creationId xmlns:p14="http://schemas.microsoft.com/office/powerpoint/2010/main" val="74212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cent">
            <a:extLst xmlns:a="http://schemas.openxmlformats.org/drawingml/2006/main">
              <a:ext uri="{FF2B5EF4-FFF2-40B4-BE49-F238E27FC236}">
                <a16:creationId xmlns:a16="http://schemas.microsoft.com/office/drawing/2014/main" id="{804E24C7-A980-4119-A7AF-2C9C9ECE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E2965DF-5CD7-44C6-871B-6E3DE54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05 · 业务应用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BD4BE5-6D25-4D85-BD41-66DF3828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数据分析：从业务问题到行动建议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fb89789e3412f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94913C9-A640-49C4-95DE-60794BD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C2500D6-9BB0-4F91-BA34-3E8DAB6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DF3EBB4-E9AE-49FD-BB0A-70F26E1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22 / 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3D8C7-7A8C-4759-B7E6-A5E9A98F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28575">
            <a:solidFill>
              <a:srgbClr val="FF66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8C11A-C6DF-451A-B241-E6375CD0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64397-E5F5-46C2-8F9F-C1EAAABD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定义问题</a:t>
            </a:r>
          </a:p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要支持什么决策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9D7B1-EF2C-4CC7-90F1-03308928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93E2B-7A5D-4717-AB60-781748BB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38355-1FB8-4BE9-AC58-B28D2A8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确认口径</a:t>
            </a:r>
          </a:p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对象、时间、指标、维度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B8B58-6497-4EEE-8157-DB826366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90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85B3D-5576-48FC-BA6F-EED4AF4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76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80F59-931B-41B9-B1DC-2A239B64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00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准备数据</a:t>
            </a:r>
          </a:p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字段清楚、单位一致、必要脱敏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3ED91-F0F6-439F-B062-93881600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84015-6111-4FD8-9B6C-68B58C1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4928E-2DFF-4102-9E00-2861D8E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388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选择路径</a:t>
            </a:r>
          </a:p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首页临时上传或知识中心复用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9F1AE-1999-4747-B812-8C2B7A9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F5105-DB9F-44F5-837C-C130A3FD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15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6A2BD-7FF6-4755-86E1-68D6A8A7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2388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执行核验</a:t>
            </a:r>
          </a:p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看证据、抽查汇总与异常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85BDA-9D6E-48D5-BC5D-ED64C10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29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97D14-DCF4-4BED-BABB-48F8CA63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715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6272A-ABB0-46B4-AC9C-D65DFB3F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2388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形成行动</a:t>
            </a:r>
          </a:p>
          <a:p xmlns:a="http://schemas.openxmlformats.org/drawingml/2006/main">
            <a:pPr algn="l">
              <a:defRPr sz="1800" b="1">
                <a:solidFill>
                  <a:srgbClr val="272727"/>
                </a:solidFill>
              </a:defRPr>
            </a:pPr>
            <a:r>
              <a:rPr sz="1800" b="1">
                <a:solidFill>
                  <a:srgbClr val="272727"/>
                </a:solidFill>
              </a:rPr>
              <a:t>输出建议、责任人与下一步</a:t>
            </a:r>
          </a:p>
        </p:txBody>
      </p:sp>
    </p:spTree>
    <p:extLst>
      <p:ext uri="{BB962C8B-B14F-4D97-AF65-F5344CB8AC3E}">
        <p14:creationId xmlns:p14="http://schemas.microsoft.com/office/powerpoint/2010/main" val="14634698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3D6708F8-03E1-4FBB-B7D6-ED4E11D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FAFB301-DB38-4392-99B9-E97BD0D6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05 · 业务应用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9F6D4F-DA65-416D-85D2-C218D70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数据分析提问：用六要素减少返工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53743d42b4118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BAF05D5-15A1-4C88-84E2-164C1CD9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74E47A7-622E-465F-9EC2-70B3CC81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088AF25-0259-4063-9AB0-5E7A490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23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BFD4354-FC2F-478D-9BEF-A201143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3f975af3b4b17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803BF1B9-5301-46CF-81C9-AD29BDB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BDE6-8109-4E51-BDBE-D2D06776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B8279-DEE6-4CC5-B601-7BB5CEE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对象 / 范围 / 口径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98D00B8D-5E4E-4C5B-9F26-5633415F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8EBDE-F7A7-4407-8EE1-E458D518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12519-D0C7-46A2-BBEA-30D8308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分析任务 / 输出结构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D81FADF6-09FA-482A-B5FB-C0A60D2C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178BE-14DF-4628-9652-BC2149D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4E194-EE6E-4B5D-B6C4-BA7215DA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约束：引用数据，不补造数字</a:t>
            </a:r>
          </a:p>
        </p:txBody>
      </p:sp>
    </p:spTree>
    <p:extLst>
      <p:ext uri="{BB962C8B-B14F-4D97-AF65-F5344CB8AC3E}">
        <p14:creationId xmlns:p14="http://schemas.microsoft.com/office/powerpoint/2010/main" val="18157402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B12F7BA5-480A-4E0E-B841-03ECF6BE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910714E-BA81-449E-8A9D-4B0E77A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05 · 业务应用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346958-72F6-4185-B466-AEFF41FB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真实测试出现异常：正确处理比反复点击更重要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c9ec94af64fcd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E6A87F1-9704-48C9-84C7-0EDECB6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7F35558-C8E2-4456-AB89-65D24E4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665BEF0-5BD5-489D-B0F4-F6BFC3A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24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8F15C0A-0882-409A-818A-66095C6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d842e72b14a2d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0F0D2990-BCDB-4E3D-B9AC-6E29B79B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931E2-059E-4A6D-A544-360FD543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D7225-70A2-459C-93D3-E063BEE9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先保留会话、时间和错误画面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A33015EF-3E45-4467-815C-362D4AAB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2AC46-048D-48EE-8BE4-AEF6212E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2B14B-8396-4673-9074-37D9CFC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刷新、检查文件并缩小范围重试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4E73D16D-B238-4B60-981E-E4049F0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43943-F660-43DF-B8CD-C320D66A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A6AA8-10C2-4810-BA6F-BD6D317B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仍失败：群内反馈或“我要吐槽”</a:t>
            </a:r>
          </a:p>
        </p:txBody>
      </p:sp>
    </p:spTree>
    <p:extLst>
      <p:ext uri="{BB962C8B-B14F-4D97-AF65-F5344CB8AC3E}">
        <p14:creationId xmlns:p14="http://schemas.microsoft.com/office/powerpoint/2010/main" val="17057071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F467A58F-AB9F-4E84-81E5-AFFA49A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ED36762-F923-4716-8DBF-173F15ED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05 · 业务应用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4DBF34-0AC6-4BD7-8F11-7D5AAC18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怎么用好工具：三条不变的原则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0d2adf09d4a4b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03FD7B7-FE8C-41E0-80F4-C039C668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051E6F3-E5DB-492C-AEF3-CD735D4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895514A-8F8A-49EF-8BA5-4E8583EE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25 / 28</a:t>
            </a:r>
          </a:p>
        </p:txBody>
      </p:sp>
      <p:sp>
        <p:nvSpPr>
          <p:cNvPr id="8" name="card-1">
            <a:extLst xmlns:a="http://schemas.openxmlformats.org/drawingml/2006/main">
              <a:ext uri="{FF2B5EF4-FFF2-40B4-BE49-F238E27FC236}">
                <a16:creationId xmlns:a16="http://schemas.microsoft.com/office/drawing/2014/main" id="{8D61DD04-3296-4123-B3C7-99FE2C27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CB96C-E95B-4EBE-BF8B-CA058A71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59954-FB83-4918-863B-61812D4A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4DFB2-3913-4907-9C29-9E29FC0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57625"/>
            <a:ext cx="4305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选对路径</a:t>
            </a:r>
          </a:p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通用协同走日常，专业任务走专家</a:t>
            </a:r>
          </a:p>
        </p:txBody>
      </p:sp>
      <p:sp>
        <p:nvSpPr>
          <p:cNvPr id="12" name="card-2">
            <a:extLst xmlns:a="http://schemas.openxmlformats.org/drawingml/2006/main">
              <a:ext uri="{FF2B5EF4-FFF2-40B4-BE49-F238E27FC236}">
                <a16:creationId xmlns:a16="http://schemas.microsoft.com/office/drawing/2014/main" id="{E5D80EE4-73BD-482D-9666-66599DBB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57833-14A4-4E33-B461-D386D93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AD51A-245F-41DA-9873-294EDA84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F0303-6314-42F1-A150-C5F53FC5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57625"/>
            <a:ext cx="4305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给足上下文</a:t>
            </a:r>
          </a:p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材料、范围、口径、格式和限制写清楚</a:t>
            </a:r>
          </a:p>
        </p:txBody>
      </p:sp>
      <p:sp>
        <p:nvSpPr>
          <p:cNvPr id="16" name="card-3">
            <a:extLst xmlns:a="http://schemas.openxmlformats.org/drawingml/2006/main">
              <a:ext uri="{FF2B5EF4-FFF2-40B4-BE49-F238E27FC236}">
                <a16:creationId xmlns:a16="http://schemas.microsoft.com/office/drawing/2014/main" id="{F3E77448-0139-46A7-BAAC-D56F0E21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4376C-3E67-47A3-A7A4-6B0135B5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B114F-12E9-458B-9B51-62B1E2AD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2194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600"/>
                </a:solidFill>
              </a:defRPr>
            </a:pPr>
            <a:r>
              <a:rPr sz="135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99E44-1E1B-4980-807C-CC391A73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857625"/>
            <a:ext cx="4305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守住责任边界</a:t>
            </a:r>
          </a:p>
          <a:p xmlns:a="http://schemas.openxmlformats.org/drawingml/2006/main">
            <a:pPr algn="l">
              <a:defRPr sz="1875" b="1">
                <a:solidFill>
                  <a:srgbClr val="272727"/>
                </a:solidFill>
              </a:defRPr>
            </a:pPr>
            <a:r>
              <a:rPr sz="1875" b="1">
                <a:solidFill>
                  <a:srgbClr val="272727"/>
                </a:solidFill>
              </a:rPr>
              <a:t>重要数字、外发、审批和决策必须人工确认</a:t>
            </a:r>
          </a:p>
        </p:txBody>
      </p:sp>
    </p:spTree>
    <p:extLst>
      <p:ext uri="{BB962C8B-B14F-4D97-AF65-F5344CB8AC3E}">
        <p14:creationId xmlns:p14="http://schemas.microsoft.com/office/powerpoint/2010/main" val="16635880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11718ae4849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D7C61-6B16-4E65-BF4B-656B9F1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600"/>
                </a:solidFill>
              </a:defRPr>
            </a:pPr>
            <a:r>
              <a:rPr sz="2025" b="1">
                <a:solidFill>
                  <a:srgbClr val="FF6600"/>
                </a:solidFill>
              </a:rPr>
              <a:t>PART.05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EAB210-ECA7-466C-B700-CE8D3DB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72727"/>
                </a:solidFill>
              </a:defRPr>
            </a:pPr>
            <a:r>
              <a:rPr sz="4950" b="1">
                <a:solidFill>
                  <a:srgbClr val="272727"/>
                </a:solidFill>
              </a:rPr>
              <a:t>问题反馈与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AD5F-1C88-450E-A7A4-FF253F57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F6F"/>
                </a:solidFill>
              </a:defRPr>
            </a:pPr>
            <a:r>
              <a:rPr sz="1875" b="0">
                <a:solidFill>
                  <a:srgbClr val="6F6F6F"/>
                </a:solidFill>
              </a:rPr>
              <a:t>让第一版在真实使用中越用越好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4BAB7-7118-48A1-8735-5469A76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1C4004E-674C-4E3F-B089-85A32E5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0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2774213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A9B33A08-BAE8-41C0-80C8-67395D73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664DD41-91D7-413C-97F5-35A14EE0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06 · 问题反馈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5F13FF-9A60-46A0-BD09-7FB4F4F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问题反馈：点击“我要吐槽”，到钉钉填写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43ad879604d96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1F6454C-4C5F-4CE1-8CC2-E235474A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017A331-BC81-4E89-9967-9827648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D4E3543-D20E-4442-A4B6-5DF92204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27 / 28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1CFC567-8EB8-4E72-8383-D9BEA300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3049250" cy="735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6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34c499df14175"/>
          <a:stretch xmlns:a="http://schemas.openxmlformats.org/drawingml/2006/main"/>
        </p:blipFill>
        <p:spPr>
          <a:xfrm xmlns:a="http://schemas.openxmlformats.org/drawingml/2006/main">
            <a:off x="968375" y="1866900"/>
            <a:ext cx="12598400" cy="7086600"/>
          </a:xfrm>
          <a:prstGeom xmlns:a="http://schemas.openxmlformats.org/drawingml/2006/main" prst="rect">
            <a:avLst/>
          </a:prstGeom>
        </p:spPr>
      </p:pic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2F7D633E-87C3-4BB2-8DB0-663DD43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0955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EA1D5-2137-4103-9965-72B5D56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66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8647C-7FE4-4AC0-8B7E-14AA282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193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问题反馈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场景、步骤、期望、实际、时间和截图</a:t>
            </a:r>
          </a:p>
        </p:txBody>
      </p:sp>
      <p:sp>
        <p:nvSpPr>
          <p:cNvPr id="13" name="callout-2">
            <a:extLst xmlns:a="http://schemas.openxmlformats.org/drawingml/2006/main">
              <a:ext uri="{FF2B5EF4-FFF2-40B4-BE49-F238E27FC236}">
                <a16:creationId xmlns:a16="http://schemas.microsoft.com/office/drawing/2014/main" id="{10D39F54-3F44-4DC3-9659-052AC45B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052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4A0B3-2B17-4FA2-8308-B758350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076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EF9F3-26A8-4B49-8F8E-EC7BD6F0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4291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需求建议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说明业务痛点、使用人和期望结果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284FDD62-B7CA-40A9-A8A5-04AA7E83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150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DDD54-58A2-42FA-A53A-A3E15B2E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886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00"/>
                </a:solidFill>
              </a:defRPr>
            </a:pPr>
            <a:r>
              <a:rPr sz="1200" b="1">
                <a:solidFill>
                  <a:srgbClr val="FF66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A0292-85ED-4A01-ABB5-F7F294A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23887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正向反馈</a:t>
            </a:r>
          </a:p>
          <a:p xmlns:a="http://schemas.openxmlformats.org/drawingml/2006/main">
            <a:pPr algn="l">
              <a:defRPr sz="1500" b="1">
                <a:solidFill>
                  <a:srgbClr val="272727"/>
                </a:solidFill>
              </a:defRPr>
            </a:pPr>
            <a:r>
              <a:rPr sz="1500" b="1">
                <a:solidFill>
                  <a:srgbClr val="272727"/>
                </a:solidFill>
              </a:rPr>
              <a:t>说明好用在哪里、节省了什么</a:t>
            </a:r>
          </a:p>
        </p:txBody>
      </p:sp>
    </p:spTree>
    <p:extLst>
      <p:ext uri="{BB962C8B-B14F-4D97-AF65-F5344CB8AC3E}">
        <p14:creationId xmlns:p14="http://schemas.microsoft.com/office/powerpoint/2010/main" val="16282908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">
            <a:extLst xmlns:a="http://schemas.openxmlformats.org/drawingml/2006/main">
              <a:ext uri="{FF2B5EF4-FFF2-40B4-BE49-F238E27FC236}">
                <a16:creationId xmlns:a16="http://schemas.microsoft.com/office/drawing/2014/main" id="{DC47FC87-C450-40EF-BFE8-124DE4C8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292560D-D1AA-4443-9F0A-231DA5D4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00"/>
                </a:solidFill>
              </a:defRPr>
            </a:pPr>
            <a:r>
              <a:rPr sz="1275" b="1">
                <a:solidFill>
                  <a:srgbClr val="FF6600"/>
                </a:solidFill>
              </a:rPr>
              <a:t>06 · 常见问题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5D90BF-5956-4166-B52A-9E95925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"/>
            <a:ext cx="1323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72727"/>
                </a:solidFill>
              </a:defRPr>
            </a:pPr>
            <a:r>
              <a:rPr sz="3000" b="1">
                <a:solidFill>
                  <a:srgbClr val="272727"/>
                </a:solidFill>
              </a:rPr>
              <a:t>Q&amp;A：先按这张表自查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8548cc4474f20"/>
          <a:stretch xmlns:a="http://schemas.openxmlformats.org/drawingml/2006/main"/>
        </p:blipFill>
        <p:spPr>
          <a:xfrm xmlns:a="http://schemas.openxmlformats.org/drawingml/2006/main">
            <a:off x="15148672" y="495300"/>
            <a:ext cx="2278156" cy="542925"/>
          </a:xfrm>
          <a:prstGeom xmlns:a="http://schemas.openxmlformats.org/drawingml/2006/main" prst="rect">
            <a:avLst/>
          </a:prstGeom>
        </p:spPr>
      </p:pic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659B2CA-041A-43B4-A497-34FD189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676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C7B8F18-2AED-41D9-AB1B-4B65C076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天马智擎 · 内部培训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F5034FF-4B07-4BCB-AC7F-A10BAD9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62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28 / 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356C9-0810-4130-8C85-30ED6F2E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600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C1B08-4556-41D4-88EF-47F4412B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526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登录或权限异常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57B6B-1742-4591-AB29-C63632CF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526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600"/>
                </a:solidFill>
              </a:defRPr>
            </a:pPr>
            <a:r>
              <a:rPr sz="1725" b="1">
                <a:solidFill>
                  <a:srgbClr val="FF6600"/>
                </a:solidFill>
              </a:rPr>
              <a:t>联系朝暮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F33E5-7FB4-49B9-9477-4E78DFA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600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8001F-640B-497E-B8F1-05070BB2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909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找不到知识文件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A2968-5C26-40B0-A58A-CA7EDB7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9092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查处理状态、空间、知识库、文件名与权限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25700-FB5F-47D2-B507-F0330C6A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1600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D492E-7037-4515-965A-62112266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291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回答或执行异常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072C9-77FA-463A-BD8D-E7B0616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刷新或缩小任务重试；仍失败再反馈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E20CE-EC32-4166-AB67-197BFD1A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1600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A5DF1-8E17-4112-ADA1-F04BFBA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674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与同事看到的功能不同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31537-AA25-4DB8-8F20-3674D6EA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6742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多为账号权限差异，属于正常情况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2FC68-0F5A-4CDF-8E74-611CAB09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48500"/>
            <a:ext cx="1600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5D2FC-6AC1-41E5-ABD2-BC3DC33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056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2727"/>
                </a:solidFill>
              </a:defRPr>
            </a:pPr>
            <a:r>
              <a:rPr sz="1725" b="1">
                <a:solidFill>
                  <a:srgbClr val="272727"/>
                </a:solidFill>
              </a:rPr>
              <a:t>有新的业务需求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88373-A515-40AD-80FC-44597477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3056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2727"/>
                </a:solidFill>
              </a:defRPr>
            </a:pPr>
            <a:r>
              <a:rPr sz="1725" b="0">
                <a:solidFill>
                  <a:srgbClr val="272727"/>
                </a:solidFill>
              </a:rPr>
              <a:t>通过“我要吐槽”填写场景与期望</a:t>
            </a:r>
          </a:p>
        </p:txBody>
      </p:sp>
    </p:spTree>
    <p:extLst>
      <p:ext uri="{BB962C8B-B14F-4D97-AF65-F5344CB8AC3E}">
        <p14:creationId xmlns:p14="http://schemas.microsoft.com/office/powerpoint/2010/main" val="14942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2026-08-08T07:24:47.1010000Z</dcterms:created>
  <dcterms:modified xsi:type="dcterms:W3CDTF">2026-08-08T07:24:47.1010000Z</dcterms:modified>
</coreProperties>
</file>