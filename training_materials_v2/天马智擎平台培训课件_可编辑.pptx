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7b9d02e9df4bae" /><Relationship Type="http://schemas.openxmlformats.org/officeDocument/2006/relationships/extended-properties" Target="/docProps/app.xml" Id="R13a8bf94a4ba4dac" /><Relationship Type="http://schemas.openxmlformats.org/officeDocument/2006/relationships/officeDocument" Target="/ppt/presentation.xml" Id="R0dfa209b62804a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7160311fdf4c22"/>
  </p:sldMasterIdLst>
  <p:notesMasterIdLst>
    <p:notesMasterId xmlns:r="http://schemas.openxmlformats.org/officeDocument/2006/relationships" r:id="R2b65912bc3564781"/>
  </p:notesMasterIdLst>
  <p:sldIdLst>
    <p:sldId xmlns:r="http://schemas.openxmlformats.org/officeDocument/2006/relationships" id="256" r:id="R011fa644cf9740fc"/>
    <p:sldId xmlns:r="http://schemas.openxmlformats.org/officeDocument/2006/relationships" id="257" r:id="R7eb2c6e9410642f6"/>
    <p:sldId xmlns:r="http://schemas.openxmlformats.org/officeDocument/2006/relationships" id="258" r:id="R66cd4885627b4e62"/>
    <p:sldId xmlns:r="http://schemas.openxmlformats.org/officeDocument/2006/relationships" id="259" r:id="Rf83692f4a8284d0b"/>
    <p:sldId xmlns:r="http://schemas.openxmlformats.org/officeDocument/2006/relationships" id="260" r:id="R7e42a391c99546b7"/>
    <p:sldId xmlns:r="http://schemas.openxmlformats.org/officeDocument/2006/relationships" id="261" r:id="R18f6267bfc554323"/>
    <p:sldId xmlns:r="http://schemas.openxmlformats.org/officeDocument/2006/relationships" id="262" r:id="R51d5a60f57584fcb"/>
    <p:sldId xmlns:r="http://schemas.openxmlformats.org/officeDocument/2006/relationships" id="263" r:id="R7841abddd823488a"/>
    <p:sldId xmlns:r="http://schemas.openxmlformats.org/officeDocument/2006/relationships" id="264" r:id="R1e8cb3826c2f465a"/>
    <p:sldId xmlns:r="http://schemas.openxmlformats.org/officeDocument/2006/relationships" id="265" r:id="R8dec93af9ba54d10"/>
    <p:sldId xmlns:r="http://schemas.openxmlformats.org/officeDocument/2006/relationships" id="266" r:id="R071fe646dd164989"/>
    <p:sldId xmlns:r="http://schemas.openxmlformats.org/officeDocument/2006/relationships" id="267" r:id="R6d789864d5564e47"/>
    <p:sldId xmlns:r="http://schemas.openxmlformats.org/officeDocument/2006/relationships" id="268" r:id="R55bf53cf2b4c4f5a"/>
    <p:sldId xmlns:r="http://schemas.openxmlformats.org/officeDocument/2006/relationships" id="269" r:id="R4ea929ba9d58437e"/>
    <p:sldId xmlns:r="http://schemas.openxmlformats.org/officeDocument/2006/relationships" id="270" r:id="Re8077c3297ca4f7b"/>
    <p:sldId xmlns:r="http://schemas.openxmlformats.org/officeDocument/2006/relationships" id="271" r:id="R254b455fea634ff0"/>
    <p:sldId xmlns:r="http://schemas.openxmlformats.org/officeDocument/2006/relationships" id="272" r:id="R4089557db9364341"/>
    <p:sldId xmlns:r="http://schemas.openxmlformats.org/officeDocument/2006/relationships" id="273" r:id="R81859090dc6a44eb"/>
    <p:sldId xmlns:r="http://schemas.openxmlformats.org/officeDocument/2006/relationships" id="274" r:id="R2e9a2c9feee345e5"/>
    <p:sldId xmlns:r="http://schemas.openxmlformats.org/officeDocument/2006/relationships" id="275" r:id="Raf0dc87eaaf74153"/>
    <p:sldId xmlns:r="http://schemas.openxmlformats.org/officeDocument/2006/relationships" id="276" r:id="R93eaf75db7174d51"/>
    <p:sldId xmlns:r="http://schemas.openxmlformats.org/officeDocument/2006/relationships" id="277" r:id="R135e8d206ade42a2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9fd40933704592" /><Relationship Type="http://schemas.openxmlformats.org/officeDocument/2006/relationships/slideMaster" Target="/ppt/slideMasters/slideMaster1.xml" Id="R5c7160311fdf4c22" /><Relationship Type="http://schemas.openxmlformats.org/officeDocument/2006/relationships/notesMaster" Target="/ppt/notesMasters/notesMaster1.xml" Id="R2b65912bc3564781" /><Relationship Type="http://schemas.openxmlformats.org/officeDocument/2006/relationships/presProps" Target="/ppt/presProps.xml" Id="Rc193eff9e82b4eed" /><Relationship Type="http://schemas.openxmlformats.org/officeDocument/2006/relationships/tableStyles" Target="/ppt/tableStyles.xml" Id="R00b212d91de540ee" /><Relationship Type="http://schemas.openxmlformats.org/officeDocument/2006/relationships/slide" Target="/ppt/slides/slide1.xml" Id="R011fa644cf9740fc" /><Relationship Type="http://schemas.openxmlformats.org/officeDocument/2006/relationships/slide" Target="/ppt/slides/slide2.xml" Id="R7eb2c6e9410642f6" /><Relationship Type="http://schemas.openxmlformats.org/officeDocument/2006/relationships/slide" Target="/ppt/slides/slide3.xml" Id="R66cd4885627b4e62" /><Relationship Type="http://schemas.openxmlformats.org/officeDocument/2006/relationships/slide" Target="/ppt/slides/slide4.xml" Id="Rf83692f4a8284d0b" /><Relationship Type="http://schemas.openxmlformats.org/officeDocument/2006/relationships/slide" Target="/ppt/slides/slide5.xml" Id="R7e42a391c99546b7" /><Relationship Type="http://schemas.openxmlformats.org/officeDocument/2006/relationships/slide" Target="/ppt/slides/slide6.xml" Id="R18f6267bfc554323" /><Relationship Type="http://schemas.openxmlformats.org/officeDocument/2006/relationships/slide" Target="/ppt/slides/slide7.xml" Id="R51d5a60f57584fcb" /><Relationship Type="http://schemas.openxmlformats.org/officeDocument/2006/relationships/slide" Target="/ppt/slides/slide8.xml" Id="R7841abddd823488a" /><Relationship Type="http://schemas.openxmlformats.org/officeDocument/2006/relationships/slide" Target="/ppt/slides/slide9.xml" Id="R1e8cb3826c2f465a" /><Relationship Type="http://schemas.openxmlformats.org/officeDocument/2006/relationships/slide" Target="/ppt/slides/slide10.xml" Id="R8dec93af9ba54d10" /><Relationship Type="http://schemas.openxmlformats.org/officeDocument/2006/relationships/slide" Target="/ppt/slides/slide11.xml" Id="R071fe646dd164989" /><Relationship Type="http://schemas.openxmlformats.org/officeDocument/2006/relationships/slide" Target="/ppt/slides/slide12.xml" Id="R6d789864d5564e47" /><Relationship Type="http://schemas.openxmlformats.org/officeDocument/2006/relationships/slide" Target="/ppt/slides/slide13.xml" Id="R55bf53cf2b4c4f5a" /><Relationship Type="http://schemas.openxmlformats.org/officeDocument/2006/relationships/slide" Target="/ppt/slides/slide14.xml" Id="R4ea929ba9d58437e" /><Relationship Type="http://schemas.openxmlformats.org/officeDocument/2006/relationships/slide" Target="/ppt/slides/slide15.xml" Id="Re8077c3297ca4f7b" /><Relationship Type="http://schemas.openxmlformats.org/officeDocument/2006/relationships/slide" Target="/ppt/slides/slide16.xml" Id="R254b455fea634ff0" /><Relationship Type="http://schemas.openxmlformats.org/officeDocument/2006/relationships/slide" Target="/ppt/slides/slide17.xml" Id="R4089557db9364341" /><Relationship Type="http://schemas.openxmlformats.org/officeDocument/2006/relationships/slide" Target="/ppt/slides/slide18.xml" Id="R81859090dc6a44eb" /><Relationship Type="http://schemas.openxmlformats.org/officeDocument/2006/relationships/slide" Target="/ppt/slides/slide19.xml" Id="R2e9a2c9feee345e5" /><Relationship Type="http://schemas.openxmlformats.org/officeDocument/2006/relationships/slide" Target="/ppt/slides/slide20.xml" Id="Raf0dc87eaaf74153" /><Relationship Type="http://schemas.openxmlformats.org/officeDocument/2006/relationships/slide" Target="/ppt/slides/slide21.xml" Id="R93eaf75db7174d51" /><Relationship Type="http://schemas.openxmlformats.org/officeDocument/2006/relationships/slide" Target="/ppt/slides/slide22.xml" Id="R135e8d206ade42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494d0dd1884b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96ff15819f4b49" /><Relationship Type="http://schemas.openxmlformats.org/officeDocument/2006/relationships/notesMaster" Target="/ppt/notesMasters/notesMaster1.xml" Id="R8eca1c1e452a4e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3966969d2f4975" /><Relationship Type="http://schemas.openxmlformats.org/officeDocument/2006/relationships/notesMaster" Target="/ppt/notesMasters/notesMaster1.xml" Id="Rf9ab444893d240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afd41489034a74" /><Relationship Type="http://schemas.openxmlformats.org/officeDocument/2006/relationships/notesMaster" Target="/ppt/notesMasters/notesMaster1.xml" Id="R319aca1a1b854a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26ea0992aa4232" /><Relationship Type="http://schemas.openxmlformats.org/officeDocument/2006/relationships/notesMaster" Target="/ppt/notesMasters/notesMaster1.xml" Id="Rc0279937f2b045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67f1cc051f41d8" /><Relationship Type="http://schemas.openxmlformats.org/officeDocument/2006/relationships/notesMaster" Target="/ppt/notesMasters/notesMaster1.xml" Id="R1dbc990d138c48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34e1e0587f480c" /><Relationship Type="http://schemas.openxmlformats.org/officeDocument/2006/relationships/notesMaster" Target="/ppt/notesMasters/notesMaster1.xml" Id="R5232033244904c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5a7ac9fff7450c" /><Relationship Type="http://schemas.openxmlformats.org/officeDocument/2006/relationships/notesMaster" Target="/ppt/notesMasters/notesMaster1.xml" Id="R6ffae244e0d74b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6c88a54c6041e4" /><Relationship Type="http://schemas.openxmlformats.org/officeDocument/2006/relationships/notesMaster" Target="/ppt/notesMasters/notesMaster1.xml" Id="R8999382fd0ce41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1795498c3542d1" /><Relationship Type="http://schemas.openxmlformats.org/officeDocument/2006/relationships/notesMaster" Target="/ppt/notesMasters/notesMaster1.xml" Id="R0da0f8b148124a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9b627814604e9e" /><Relationship Type="http://schemas.openxmlformats.org/officeDocument/2006/relationships/notesMaster" Target="/ppt/notesMasters/notesMaster1.xml" Id="R49e32a95490b49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0dede4c1c348db" /><Relationship Type="http://schemas.openxmlformats.org/officeDocument/2006/relationships/notesMaster" Target="/ppt/notesMasters/notesMaster1.xml" Id="Rc820f540e36943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c477fe1ab244b7" /><Relationship Type="http://schemas.openxmlformats.org/officeDocument/2006/relationships/notesMaster" Target="/ppt/notesMasters/notesMaster1.xml" Id="Red2dcf5c5eaf41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2b20c88a374aa4" /><Relationship Type="http://schemas.openxmlformats.org/officeDocument/2006/relationships/notesMaster" Target="/ppt/notesMasters/notesMaster1.xml" Id="R40e52adad5c348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ba2429822542fd" /><Relationship Type="http://schemas.openxmlformats.org/officeDocument/2006/relationships/notesMaster" Target="/ppt/notesMasters/notesMaster1.xml" Id="R014b64bb0a9e44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2593ba3fe94c66" /><Relationship Type="http://schemas.openxmlformats.org/officeDocument/2006/relationships/notesMaster" Target="/ppt/notesMasters/notesMaster1.xml" Id="Ra817835f4b514c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644cb6a7614334" /><Relationship Type="http://schemas.openxmlformats.org/officeDocument/2006/relationships/notesMaster" Target="/ppt/notesMasters/notesMaster1.xml" Id="Rf7921611f03847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c71550f729427c" /><Relationship Type="http://schemas.openxmlformats.org/officeDocument/2006/relationships/notesMaster" Target="/ppt/notesMasters/notesMaster1.xml" Id="R2f62590aa1564d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701d39703b34ae9" /><Relationship Type="http://schemas.openxmlformats.org/officeDocument/2006/relationships/notesMaster" Target="/ppt/notesMasters/notesMaster1.xml" Id="Raf62c4986bae43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de0150179b04369" /><Relationship Type="http://schemas.openxmlformats.org/officeDocument/2006/relationships/notesMaster" Target="/ppt/notesMasters/notesMaster1.xml" Id="Rda0a29a4d9c0450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5bc5ed3af084909" /><Relationship Type="http://schemas.openxmlformats.org/officeDocument/2006/relationships/notesMaster" Target="/ppt/notesMasters/notesMaster1.xml" Id="Rabd3fa38c5394bb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e18df84e02243dc" /><Relationship Type="http://schemas.openxmlformats.org/officeDocument/2006/relationships/notesMaster" Target="/ppt/notesMasters/notesMaster1.xml" Id="R54fa3d93791c45e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179dddc297f444b" /><Relationship Type="http://schemas.openxmlformats.org/officeDocument/2006/relationships/notesMaster" Target="/ppt/notesMasters/notesMaster1.xml" Id="Ra2c84e8735ec4e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我们用一场完整演示认识天马智擎。培训重点不是背景故事，而是把系统功能、操作方法、能力边界和业务应用讲清楚。顺序是首页智能体、知识中心、仪表盘、工作台，最后用知识中心上传到首页引用串成闭环。当前系统是第一版，界面和能力仍会迭代，请以发版当日正式环境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研的核心价值可以归纳为治理、连接、沉淀。治理是让数据、权限和使用规范放在企业可管理的框架内；连接是逐步打通知识与业务系统；沉淀是把个人提示词变成可复用的智能体。不要承诺绝不泄漏或全部系统已打通，员工仍要遵守数据规范，实际连接以权限和配置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首页智能体占最大篇幅，因为它是日常使用主入口；知识中心第二，解决材料沉淀与复用；仪表盘和工作台依次介绍。最后做完整闭环：先上传文件，等待处理成功，再回首页引用，选择模式或专家完成任务。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中央是对话输入区，下方三个关键控制分别是添加附件、选择模式和联网查询。再往下是六个快捷场景。左侧按日常办公和专家模式保留历史会话。演示时先讲选模式、给材料、写清任务，最后再提交。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日常办公和专家模式不是普通版与高级版，也不是答案聪明程度的简单差别。日常办公面向横向、通用、轻量的办公与协同任务：已经知道要做什么，希望AI帮忙查、写、整理或发起动作。专家模式面向纵向、专业、复杂的专项业务任务：需要按专业方法、专属知识或固定流程完成分析和方案。请记住一句话：日常办公解决横向通用工作，专家模式解决纵向专业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择模式时用三步判断。第一，是不是写作、查询、消息、待办、日程一类通用办公或协同动作？是的话选日常办公。第二，是否依赖特定业务方法、专属知识或固定流程？是的话选专家模式。第三，如果既要专业分析又要办公落地，就先专家、后日常。例如先让评价分析师找问题，再回日常办公整理汇报或待办。现场判断题：约明天下午会议选日常；按预算生成人员组货方案选专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专家列表可见多个智能体。培训重点是选择方法：先读类别和能力说明，再判断输入是否齐全，最后确认结果能否复核。本次重点演示组货专家和评价分析师。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组货专家根据预算、人数、性别比例和品类需求，匹配知识库方案与商品信息，生成可执行方案。页面提供初始化模板。输出后核对总金额、数量、SKU来源和系统假设。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评价分析师专注天马B2C平台店铺评价数据。页面提供五类快捷任务。要求结果按问题类型、品牌、SKU、地区和物流归类，并列证据、影响范围和优先级。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首页直接附件支持pdf、doc、docx、xls、xlsx、txt、md，单文件不超过10MB，总共最多3个。较大或需要反复使用的材料，应该改走知识中心。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添加附件后切换知识中心，可以搜索文档、选择空间，再进入知识库。找不到文件时检查处理状态、空间、知识库、文件名和账号权限。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知识中心列表展示名称、所有者、创建时间、最近访问和操作。它更适合团队沉淀和反复引用。公共空间与个人空间要按权限和用途选择。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文件行会显示处理状态。只有在处理完成后，首页引用和知识问答才更稳定。小智可基于知识库和已打开文件回答，但回答不是原文替代品。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知识中心支持pdf、doc、docx、xls、xlsx、csv、txt、md，单文件不超过50MB，单次最多100个。10MB和3个属于首页，50MB和100个属于知识中心，不能混淆。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仪表盘先选事业部，再选时间，最后阅读当前值、同比和环比。不要只看红绿颜色，要确认口径和业务背景。页面实测支持筛选和指标配置。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指标配置共15项。用户可勾选需要展示的指标并保存。指标展示选择不改变业务口径，重要解释仍需遵循数据治理规则。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本次实测工作台显示10个系统入口。员工可用顶部搜索定位。入口随账号权限和管理员配置变化；工作台是统一入口，不代表所有系统已与首页对话自动打通。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把模块串起来：上传文件，等处理成功，回首页添加知识中心附件，选择文件与任务模式，再按四段式提问并复核。这个闭环适合较大、复用或团队沉淀材料。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首页直接附件单文件10MB、最多3个，适合临时材料；知识中心单文件50MB、单次最多100个，适合较大和复用材料。知识中心文件还要等待处理成功。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AI可能产生错误、遗漏或不恰当推断；没有提供、授权或接入的数据不会自动获得；涉及外部发送、审批、下单和重要决策时必须由责任人确认。联网查询面向公开信息，不等于可以访问内部系统。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目前是第一版，有不完善的地方很正常。遇到问题时，请点击平台里的“问题反馈”入口，页面会跳转到钉钉链接，在钉钉中填写并提交。建议写清业务场景、选择的模式或智能体、引用材料、操作步骤、期望结果和实际结果，并附脱敏截图、发生时间和影响范围。好用的地方告诉我们为什么，不好用的地方告诉我们具体哪一步有偏差，团队会根据真实使用持续迭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常见问题：选不到知识文件时检查处理状态、空间、知识库和权限；专项业务任务优先专家模式；仪表盘先定范围再看当前值、同比和环比；工作台入口差异来自权限和配置。无法确认的问题记录账号、时间、步骤和截图后核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e355d4ceb542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180c75595a4fe2" /><Relationship Type="http://schemas.openxmlformats.org/officeDocument/2006/relationships/slideLayout" Target="/ppt/slideLayouts/slideLayout1.xml" Id="R478200c627524c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8200c627524c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08edecc5f4d39" /><Relationship Type="http://schemas.openxmlformats.org/officeDocument/2006/relationships/notesSlide" Target="/ppt/notesSlides/notesSlide1.xml" Id="R864b63dfdf7a4c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caca643bf46ee" /><Relationship Type="http://schemas.openxmlformats.org/officeDocument/2006/relationships/notesSlide" Target="/ppt/notesSlides/notesSlide2.xml" Id="Rfe1c405427594b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2769997584f2f" /><Relationship Type="http://schemas.openxmlformats.org/officeDocument/2006/relationships/notesSlide" Target="/ppt/notesSlides/notesSlide3.xml" Id="R9c1ef5764d9944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67651ea7d4ce8" /><Relationship Type="http://schemas.openxmlformats.org/officeDocument/2006/relationships/image" Target="/ppt/media/image.png" Id="Rbf5c68e2642e4caa" /><Relationship Type="http://schemas.openxmlformats.org/officeDocument/2006/relationships/notesSlide" Target="/ppt/notesSlides/notesSlide4.xml" Id="R08dba8dd046741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aaea2f3554b57" /><Relationship Type="http://schemas.openxmlformats.org/officeDocument/2006/relationships/image" Target="/ppt/media/image2.png" Id="R55c23f7c73ab422f" /><Relationship Type="http://schemas.openxmlformats.org/officeDocument/2006/relationships/notesSlide" Target="/ppt/notesSlides/notesSlide5.xml" Id="Reacc025a7a6845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18a9424d84300" /><Relationship Type="http://schemas.openxmlformats.org/officeDocument/2006/relationships/notesSlide" Target="/ppt/notesSlides/notesSlide6.xml" Id="R0e8dd31594c940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c1d7937aa4369" /><Relationship Type="http://schemas.openxmlformats.org/officeDocument/2006/relationships/image" Target="/ppt/media/image3.png" Id="R8ab1eeb54b5643c5" /><Relationship Type="http://schemas.openxmlformats.org/officeDocument/2006/relationships/notesSlide" Target="/ppt/notesSlides/notesSlide7.xml" Id="R0a35d3f9d61044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c46572eb04c75" /><Relationship Type="http://schemas.openxmlformats.org/officeDocument/2006/relationships/image" Target="/ppt/media/image4.png" Id="Re00c5c2322b24830" /><Relationship Type="http://schemas.openxmlformats.org/officeDocument/2006/relationships/notesSlide" Target="/ppt/notesSlides/notesSlide8.xml" Id="Rcf75e70c040c4f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e10abb28447f8" /><Relationship Type="http://schemas.openxmlformats.org/officeDocument/2006/relationships/image" Target="/ppt/media/image5.png" Id="R70870264490a40ed" /><Relationship Type="http://schemas.openxmlformats.org/officeDocument/2006/relationships/notesSlide" Target="/ppt/notesSlides/notesSlide9.xml" Id="R740340ff55cf48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a533d89bf4f17" /><Relationship Type="http://schemas.openxmlformats.org/officeDocument/2006/relationships/image" Target="/ppt/media/image6.png" Id="Rca85001ddff64704" /><Relationship Type="http://schemas.openxmlformats.org/officeDocument/2006/relationships/notesSlide" Target="/ppt/notesSlides/notesSlide10.xml" Id="Rce5823048bc646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422eebf024747" /><Relationship Type="http://schemas.openxmlformats.org/officeDocument/2006/relationships/image" Target="/ppt/media/image7.png" Id="R1ab82cb6181e467b" /><Relationship Type="http://schemas.openxmlformats.org/officeDocument/2006/relationships/notesSlide" Target="/ppt/notesSlides/notesSlide11.xml" Id="R155b1b8d8d8f4c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1c9a5743b4d8c" /><Relationship Type="http://schemas.openxmlformats.org/officeDocument/2006/relationships/image" Target="/ppt/media/image8.png" Id="R5ee97f5a3039482c" /><Relationship Type="http://schemas.openxmlformats.org/officeDocument/2006/relationships/notesSlide" Target="/ppt/notesSlides/notesSlide12.xml" Id="R723f02a9060c40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15370ad0647ef" /><Relationship Type="http://schemas.openxmlformats.org/officeDocument/2006/relationships/image" Target="/ppt/media/image9.png" Id="R634925ca61384167" /><Relationship Type="http://schemas.openxmlformats.org/officeDocument/2006/relationships/notesSlide" Target="/ppt/notesSlides/notesSlide13.xml" Id="R20503032d31b42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418e1a48d4f56" /><Relationship Type="http://schemas.openxmlformats.org/officeDocument/2006/relationships/image" Target="/ppt/media/image10.png" Id="R1b9cb766c0b74592" /><Relationship Type="http://schemas.openxmlformats.org/officeDocument/2006/relationships/notesSlide" Target="/ppt/notesSlides/notesSlide14.xml" Id="Ra4d96ab87e1045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e8f5eeaf6419f" /><Relationship Type="http://schemas.openxmlformats.org/officeDocument/2006/relationships/image" Target="/ppt/media/image11.png" Id="Rbca808ae37394177" /><Relationship Type="http://schemas.openxmlformats.org/officeDocument/2006/relationships/notesSlide" Target="/ppt/notesSlides/notesSlide15.xml" Id="R5919d811763e40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80fdc5e7c4232" /><Relationship Type="http://schemas.openxmlformats.org/officeDocument/2006/relationships/image" Target="/ppt/media/image12.png" Id="Rb990003c1bb04ae8" /><Relationship Type="http://schemas.openxmlformats.org/officeDocument/2006/relationships/notesSlide" Target="/ppt/notesSlides/notesSlide16.xml" Id="R9f76e6266c004a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d4ee592704cf1" /><Relationship Type="http://schemas.openxmlformats.org/officeDocument/2006/relationships/image" Target="/ppt/media/image13.png" Id="Rf45c9c32578945a5" /><Relationship Type="http://schemas.openxmlformats.org/officeDocument/2006/relationships/notesSlide" Target="/ppt/notesSlides/notesSlide17.xml" Id="R5d11343584034f8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9a4e79026431c" /><Relationship Type="http://schemas.openxmlformats.org/officeDocument/2006/relationships/notesSlide" Target="/ppt/notesSlides/notesSlide18.xml" Id="Re656620f5d144c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defdbc7284796" /><Relationship Type="http://schemas.openxmlformats.org/officeDocument/2006/relationships/notesSlide" Target="/ppt/notesSlides/notesSlide19.xml" Id="R9ee49c8bc6a2442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24ff4b30d4edc" /><Relationship Type="http://schemas.openxmlformats.org/officeDocument/2006/relationships/notesSlide" Target="/ppt/notesSlides/notesSlide20.xml" Id="R2d17e7d6b486406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12d890d8f4a75" /><Relationship Type="http://schemas.openxmlformats.org/officeDocument/2006/relationships/notesSlide" Target="/ppt/notesSlides/notesSlide21.xml" Id="R40bf3d7e5005425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c98500ce041e9" /><Relationship Type="http://schemas.openxmlformats.org/officeDocument/2006/relationships/notesSlide" Target="/ppt/notesSlides/notesSlide22.xml" Id="R09a4818f7a8745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ackground">
            <a:extLst xmlns:a="http://schemas.openxmlformats.org/drawingml/2006/main">
              <a:ext uri="{FF2B5EF4-FFF2-40B4-BE49-F238E27FC236}">
                <a16:creationId xmlns:a16="http://schemas.microsoft.com/office/drawing/2014/main" id="{B9543719-9B1C-430A-89D4-85C4E210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3F7FF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A5085-57E1-4756-958C-556AEB46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TIANMA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C8FF3-7709-44D6-94A3-E047DECC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TIANMA · INTERNAL TRAINING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64997F-8D2B-446C-8865-0B38901B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1428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11827"/>
                </a:solidFill>
              </a:defRPr>
            </a:pPr>
            <a:r>
              <a:rPr sz="5400" b="1">
                <a:solidFill>
                  <a:srgbClr val="111827"/>
                </a:solidFill>
              </a:rPr>
              <a:t>天马智擎平台培训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54771-2762-48C1-94DF-005BE85B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48375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67085"/>
                </a:solidFill>
              </a:defRPr>
            </a:pPr>
            <a:r>
              <a:rPr sz="2100" b="0">
                <a:solidFill>
                  <a:srgbClr val="667085"/>
                </a:solidFill>
              </a:rPr>
              <a:t>功能讲解 · 操作演示 · 能力边界 · 业务应用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91B8F-C635-4A41-8CE8-B9DC5797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V1 内部培训版 · 1920×1080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57EB3-E8D1-4A1B-9812-99AFB327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01 / 22</a:t>
            </a:r>
          </a:p>
        </p:txBody>
      </p:sp>
    </p:spTree>
    <p:extLst>
      <p:ext uri="{BB962C8B-B14F-4D97-AF65-F5344CB8AC3E}">
        <p14:creationId xmlns:p14="http://schemas.microsoft.com/office/powerpoint/2010/main" val="12408241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AE27376A-9790-4C27-AF60-3335BF95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治理 · 连接 · 沉淀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3E2F388-5740-47DD-A81B-35F0F219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为什么建设自研平台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95E8A-64C0-46EB-A9E0-73C1A2DC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76F73-79D1-404F-AB60-4F46FCE2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02 / 22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5BB73239-F42D-4259-818C-6ED8DED0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931C9-EC75-4490-B3F8-DF951E8A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C1194-E1C7-4FA4-857B-DEC4F5FD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3CFDA-CDCC-4061-9C60-68D299D0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降低内部材料流向未批准外部平台的风险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2A5075E4-DAC9-4FF0-90AD-D18F5D3A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C2F8A-643F-4668-8B62-6E669DB7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19593-E075-4482-A560-5E384F8B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546E8-AC2F-4A77-8F8B-24B7F720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逐步连接内部知识与业务系统</a:t>
            </a:r>
          </a:p>
        </p:txBody>
      </p:sp>
      <p:sp>
        <p:nvSpPr>
          <p:cNvPr id="13" name="card-3">
            <a:extLst xmlns:a="http://schemas.openxmlformats.org/drawingml/2006/main">
              <a:ext uri="{FF2B5EF4-FFF2-40B4-BE49-F238E27FC236}">
                <a16:creationId xmlns:a16="http://schemas.microsoft.com/office/drawing/2014/main" id="{AB8DFCDA-413E-42F1-986E-2DADDB0F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17A48-8761-40E9-B679-573F6FC0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BE09E-08F6-4B77-B3CF-AEFEA03E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127DB-0A4D-4A3D-8126-84DA54BD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沉淀企业可复用的智能体与工具</a:t>
            </a:r>
          </a:p>
        </p:txBody>
      </p:sp>
    </p:spTree>
    <p:extLst>
      <p:ext uri="{BB962C8B-B14F-4D97-AF65-F5344CB8AC3E}">
        <p14:creationId xmlns:p14="http://schemas.microsoft.com/office/powerpoint/2010/main" val="1838369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5517F018-9C6F-4847-A843-137F0C03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首页优先，按真实工作流展开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BAD3DA-504F-4BD6-A425-91C7B57D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今天的学习路径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70F3C-3AA3-46C9-9A90-6A94C4B0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47715-0C06-41F3-9EC7-8F456782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03 / 22</a:t>
            </a:r>
          </a:p>
        </p:txBody>
      </p:sp>
      <p:sp>
        <p:nvSpPr>
          <p:cNvPr id="5" name="agenda-1">
            <a:extLst xmlns:a="http://schemas.openxmlformats.org/drawingml/2006/main">
              <a:ext uri="{FF2B5EF4-FFF2-40B4-BE49-F238E27FC236}">
                <a16:creationId xmlns:a16="http://schemas.microsoft.com/office/drawing/2014/main" id="{D78D47E0-48AA-46AC-823D-CC54E110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1543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435AB-CFA3-4323-8D41-978C4574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4765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41AA6-CC8C-46BB-A09B-0E13380D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19350"/>
            <a:ext cx="1304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首页智能体｜两种模式、场景与专家</a:t>
            </a:r>
          </a:p>
        </p:txBody>
      </p:sp>
      <p:sp>
        <p:nvSpPr>
          <p:cNvPr id="8" name="agenda-2">
            <a:extLst xmlns:a="http://schemas.openxmlformats.org/drawingml/2006/main">
              <a:ext uri="{FF2B5EF4-FFF2-40B4-BE49-F238E27FC236}">
                <a16:creationId xmlns:a16="http://schemas.microsoft.com/office/drawing/2014/main" id="{FE4CD26B-FCF8-4E68-8A1A-57F477C8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1543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D6974-EDE6-45FD-ACFD-6C26736F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6712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89A88-7B21-44D9-9C82-977708D9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9975"/>
            <a:ext cx="1304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知识中心｜上传、处理、问答与引用</a:t>
            </a:r>
          </a:p>
        </p:txBody>
      </p:sp>
      <p:sp>
        <p:nvSpPr>
          <p:cNvPr id="11" name="agenda-3">
            <a:extLst xmlns:a="http://schemas.openxmlformats.org/drawingml/2006/main">
              <a:ext uri="{FF2B5EF4-FFF2-40B4-BE49-F238E27FC236}">
                <a16:creationId xmlns:a16="http://schemas.microsoft.com/office/drawing/2014/main" id="{685B1C1C-34FF-482C-A685-F4781DE7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1543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1F650-A05A-452C-A80B-E4D23FA6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577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341B4-9D91-42BD-8CB0-BBBBE113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00600"/>
            <a:ext cx="1304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仪表盘｜筛选、指标卡与配置</a:t>
            </a:r>
          </a:p>
        </p:txBody>
      </p:sp>
      <p:sp>
        <p:nvSpPr>
          <p:cNvPr id="14" name="agenda-4">
            <a:extLst xmlns:a="http://schemas.openxmlformats.org/drawingml/2006/main">
              <a:ext uri="{FF2B5EF4-FFF2-40B4-BE49-F238E27FC236}">
                <a16:creationId xmlns:a16="http://schemas.microsoft.com/office/drawing/2014/main" id="{E69E0077-CE3C-4A5F-8B19-B16AF3FE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62625"/>
            <a:ext cx="1543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211C7-673C-4364-BDBE-E93B8FEE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483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53A6E-2AAD-4B33-ACF5-9CE115B5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91225"/>
            <a:ext cx="1304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工作台｜统一入口与权限边界</a:t>
            </a:r>
          </a:p>
        </p:txBody>
      </p:sp>
      <p:sp>
        <p:nvSpPr>
          <p:cNvPr id="17" name="agenda-5">
            <a:extLst xmlns:a="http://schemas.openxmlformats.org/drawingml/2006/main">
              <a:ext uri="{FF2B5EF4-FFF2-40B4-BE49-F238E27FC236}">
                <a16:creationId xmlns:a16="http://schemas.microsoft.com/office/drawing/2014/main" id="{1BF58137-53D4-4FEF-B64A-BD212C28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953250"/>
            <a:ext cx="1543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5A791-15D9-4947-87ED-F80887F0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72390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3E9E2-B162-47DF-9E7B-587A0F72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181850"/>
            <a:ext cx="1304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模块耦合｜知识中心 → 首页对话</a:t>
            </a:r>
          </a:p>
        </p:txBody>
      </p:sp>
    </p:spTree>
    <p:extLst>
      <p:ext uri="{BB962C8B-B14F-4D97-AF65-F5344CB8AC3E}">
        <p14:creationId xmlns:p14="http://schemas.microsoft.com/office/powerpoint/2010/main" val="1699678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281D1A84-CD70-4A2E-8C8D-5DC4EF2B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03 · 首页智能体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EA4A6A-873E-45C4-9949-AC7E99C4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统一工作入口：输入、模式、材料、联网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DD1E6-40BD-413C-AF76-ACB1670A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B73BB-C858-402F-9970-F5CE912B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04 / 22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02D33A6C-D685-4592-9E4E-1FB4F6A2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c68e2642e4caa"/>
          <a:stretch xmlns:a="http://schemas.openxmlformats.org/drawingml/2006/main"/>
        </p:blipFill>
        <p:spPr>
          <a:xfrm xmlns:a="http://schemas.openxmlformats.org/drawingml/2006/main">
            <a:off x="1666875" y="1838325"/>
            <a:ext cx="11811000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DECDCCA6-A7E4-4D86-9E13-ADEE752C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2DDDB-C2E8-466C-B23D-4131AFBF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262A2-966D-404E-B2F9-B4D26067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0E23A-EB47-453C-8242-4DBDEA71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六个快捷场景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981C403F-6BEC-41F7-BA58-793EBDE6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36AB8-FA79-4205-B084-527D0327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69B58-9D73-4BDA-9806-C48456AF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CAE51-7D63-4CC2-B3AD-A90B81C0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附件 / 模式 / 联网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C75B79F7-F9B5-4D85-88E2-4C832076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337A6-B187-4055-9E5A-09CC1622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3CD3E-F184-4138-8CEE-7B27FC3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9AE07-3223-4D56-A0D3-DEC0A80B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左侧保留历史会话</a:t>
            </a:r>
          </a:p>
        </p:txBody>
      </p:sp>
    </p:spTree>
    <p:extLst>
      <p:ext uri="{BB962C8B-B14F-4D97-AF65-F5344CB8AC3E}">
        <p14:creationId xmlns:p14="http://schemas.microsoft.com/office/powerpoint/2010/main" val="6916951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56A8E516-12C0-4A02-AD60-D615888A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04 · 两种模式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17A34FD-78DE-4EAF-B6F6-793184AF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不是普通版 / 高级版，而是两条任务路径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BC6DB-3A28-429D-85FC-D0974451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92CF3-E0B7-4BC2-A2D8-7223CF8C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05 / 22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417326E0-FAEF-47AE-9A9E-6E57D982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23f7c73ab422f"/>
          <a:stretch xmlns:a="http://schemas.openxmlformats.org/drawingml/2006/main"/>
        </p:blipFill>
        <p:spPr>
          <a:xfrm xmlns:a="http://schemas.openxmlformats.org/drawingml/2006/main">
            <a:off x="1666875" y="1838325"/>
            <a:ext cx="11811000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289EAFDA-CB94-4432-9BF2-B7CFD979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0DAF1-9BDB-4780-A14E-EE6BE90D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0ADF5-22E5-4CD7-B88D-96A9A8C3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B2355-7824-40E2-A70A-EDAFC6F5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日常办公：横向、通用、轻量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228D6073-2AEB-456B-995E-2266CAB7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233D5-B834-4141-A408-D45312C6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483D2-46E4-4120-8BB6-AB0F98BB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BB826-4AE1-472A-B5ED-855B66EC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专家模式：纵向、专业、复杂</a:t>
            </a:r>
          </a:p>
        </p:txBody>
      </p:sp>
    </p:spTree>
    <p:extLst>
      <p:ext uri="{BB962C8B-B14F-4D97-AF65-F5344CB8AC3E}">
        <p14:creationId xmlns:p14="http://schemas.microsoft.com/office/powerpoint/2010/main" val="1780174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9354DAE8-7A62-4A3E-89C4-05069E14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05 · 模式判断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D33A26-EE9B-4829-8E03-1366254C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三步判断：日常、专家，还是串起来用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2AA30-4750-41A8-A76E-3C8509FF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31440-131C-408D-962D-FA1CC7AA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06 / 22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BA7E425C-D199-4C1F-B0C9-087A3302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0ED1E-BC06-44AC-BAEF-BA8C8712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D0D23-069B-4CA9-8E31-95BE1664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F2A16-6F20-45C5-8DF9-4B7D8B41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671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通用办公 / 协同动作 → 日常办公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4A1DFCCF-17D7-4563-8050-05246935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22382-6D34-47F2-BB45-F616F5E2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90E70-1E93-4038-BEFD-F42CD552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EF3DF-AAD8-4611-A566-94C2D155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671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专业方法 / 专属知识 → 专家模式</a:t>
            </a:r>
          </a:p>
        </p:txBody>
      </p:sp>
      <p:sp>
        <p:nvSpPr>
          <p:cNvPr id="13" name="card-3">
            <a:extLst xmlns:a="http://schemas.openxmlformats.org/drawingml/2006/main">
              <a:ext uri="{FF2B5EF4-FFF2-40B4-BE49-F238E27FC236}">
                <a16:creationId xmlns:a16="http://schemas.microsoft.com/office/drawing/2014/main" id="{DB9E3405-085E-456C-A41A-99504971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18A31-8BAF-4E31-8BAA-4309C1FE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46A4C-2FD5-4AC0-8335-D1CA1D16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38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B25A2-33CA-4570-B38E-F1E45FEB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43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混合任务 → 先专家分析，后日常落地</a:t>
            </a:r>
          </a:p>
        </p:txBody>
      </p:sp>
      <p:sp>
        <p:nvSpPr>
          <p:cNvPr id="17" name="card-4">
            <a:extLst xmlns:a="http://schemas.openxmlformats.org/drawingml/2006/main">
              <a:ext uri="{FF2B5EF4-FFF2-40B4-BE49-F238E27FC236}">
                <a16:creationId xmlns:a16="http://schemas.microsoft.com/office/drawing/2014/main" id="{46DAD445-B321-45DD-8E31-01AF8A41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340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58627-CECB-4CE0-A124-AD17BBF5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340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EC84A0-A540-43D0-A09E-71400756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38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F97DF-19FC-49C4-8581-72E38002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43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最后都要人工复核</a:t>
            </a:r>
          </a:p>
        </p:txBody>
      </p:sp>
    </p:spTree>
    <p:extLst>
      <p:ext uri="{BB962C8B-B14F-4D97-AF65-F5344CB8AC3E}">
        <p14:creationId xmlns:p14="http://schemas.microsoft.com/office/powerpoint/2010/main" val="435915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6A3FB443-6B71-4C8F-BA0B-0132965F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06 · 专家模式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FEB2A3A-CDAF-4502-9845-5E041DF1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按任务目标选择智能体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30146-35A2-4E12-809A-83D9C854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94F15-B51F-4D44-B982-704E75B5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07 / 22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076E5043-CC53-4E87-9562-936B8A51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1eeb54b5643c5"/>
          <a:stretch xmlns:a="http://schemas.openxmlformats.org/drawingml/2006/main"/>
        </p:blipFill>
        <p:spPr>
          <a:xfrm xmlns:a="http://schemas.openxmlformats.org/drawingml/2006/main">
            <a:off x="1666875" y="1838325"/>
            <a:ext cx="11811000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0EB10FCA-E32B-4166-A347-582B436D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80F2C-3340-487B-B0F9-AC54343B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A495C-05E6-4D8D-9EC8-E926FC24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4AD0F-B378-419A-8185-87AC4040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先看能力说明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1CE10CC5-8807-4BFA-8D58-6CF82B3F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2B22C-16FA-4E0E-8BF4-A24F9381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B1248-5BB3-4CE0-A9FC-45A3EE41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572A0-C12A-44B4-81B8-621C279C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再看所需输入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63F9413F-9C0B-493C-A866-B7A2DA71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08D2E-440E-47D0-8AC7-29B8F598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1CA08-3603-451A-8B5B-B16F6A48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02CA4-CAAF-496E-93A0-75FD4846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最后看输出是否可验证</a:t>
            </a:r>
          </a:p>
        </p:txBody>
      </p:sp>
    </p:spTree>
    <p:extLst>
      <p:ext uri="{BB962C8B-B14F-4D97-AF65-F5344CB8AC3E}">
        <p14:creationId xmlns:p14="http://schemas.microsoft.com/office/powerpoint/2010/main" val="3547598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484CD38E-156B-44AC-B890-60BA1218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07 · 组货专家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743AF1-12E1-4E55-800A-CE8E19F5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把约束写全，才能生成可执行方案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09CA3-B193-4771-A58C-8F7082B9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19D14-9E16-47FE-A572-9973F5EE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08 / 22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AAF9BF42-9634-4B27-801C-6432BB88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c5c2322b24830"/>
          <a:stretch xmlns:a="http://schemas.openxmlformats.org/drawingml/2006/main"/>
        </p:blipFill>
        <p:spPr>
          <a:xfrm xmlns:a="http://schemas.openxmlformats.org/drawingml/2006/main">
            <a:off x="1666875" y="1838325"/>
            <a:ext cx="11811000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E90723F5-859A-4020-BA6A-7EF0ABCF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81E12-8964-455A-B184-F53DEA91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7E32D-0E01-4F0F-883F-C14D0471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3197B-4AC1-4BDB-8365-5147BC7E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预算 / 人数 / 性别比例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364FFCB0-4B90-4BFE-91A9-48F57C80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6B421-312C-4BD3-95DD-498EFCAC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89115-F5E5-4CBB-88E3-2914ECD7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E6B78-D3DF-4E82-92AA-46B8B5F4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品类需求与知识库方案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6C67A172-EDA6-4B0E-9773-E1ACD3B3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A543E-2054-4DE0-A5B2-D8F0D4CE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E7E2C-E39B-42F6-A288-9309DFB5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8F328-F798-4CEC-9DA8-D6ADCB43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检查金额、数量、SKU与假设</a:t>
            </a:r>
          </a:p>
        </p:txBody>
      </p:sp>
    </p:spTree>
    <p:extLst>
      <p:ext uri="{BB962C8B-B14F-4D97-AF65-F5344CB8AC3E}">
        <p14:creationId xmlns:p14="http://schemas.microsoft.com/office/powerpoint/2010/main" val="19657602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561FFBC-047B-4BB2-907B-0C601B37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08 · 评价分析师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5DC290C-FD8B-4C32-B084-CD152535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从评价数据中发现问题线索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46366-EC86-4B91-B42E-2E8ECFCC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B8395-21BF-4259-9C29-5C7E9344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09 / 22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D21E5C15-11D7-4C53-9B6A-F051AD0A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70264490a40ed"/>
          <a:stretch xmlns:a="http://schemas.openxmlformats.org/drawingml/2006/main"/>
        </p:blipFill>
        <p:spPr>
          <a:xfrm xmlns:a="http://schemas.openxmlformats.org/drawingml/2006/main">
            <a:off x="1666875" y="1838325"/>
            <a:ext cx="11811000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F3ADB0E0-576E-45F7-A792-6504DAFE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AF13B-315B-4E3C-BF34-60342645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6E8BA-F18D-4521-9986-345F5364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00978-C774-415F-970C-E1DCAB48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全景 / 差评 / 品牌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F1396B6C-ACEE-4D6B-A6CE-A0AA3583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DD2D4-7A43-4347-8B0D-69C1B79E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550ED-C3C2-4F33-AF0A-9C2CD58C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62EC9-92F2-4D92-A061-A55B8055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高风险SKU / 地区物流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81610ACA-4256-48AC-951D-A880D024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42611-36DD-4635-B85E-663AA9C1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03586-B4D4-4A76-AA8C-145AD05F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6024C5-6B24-4F5F-9078-F48092FE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要求证据，数据不足要明示</a:t>
            </a:r>
          </a:p>
        </p:txBody>
      </p:sp>
    </p:spTree>
    <p:extLst>
      <p:ext uri="{BB962C8B-B14F-4D97-AF65-F5344CB8AC3E}">
        <p14:creationId xmlns:p14="http://schemas.microsoft.com/office/powerpoint/2010/main" val="1396822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B0546A2D-7FE3-42D4-82F2-4FDC65B9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09 · 首页附件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23E9F7D-1946-42BF-B9E2-B89D61A6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临时材料：单文件 ≤10MB，最多 3 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B50E6-4F25-47FC-8A56-07C7898C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39DDC-DE45-4964-BAE7-1BF866BF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10 / 22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1CA82BFB-C8C9-4530-B689-0B881064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5001ddff64704"/>
          <a:stretch xmlns:a="http://schemas.openxmlformats.org/drawingml/2006/main"/>
        </p:blipFill>
        <p:spPr>
          <a:xfrm xmlns:a="http://schemas.openxmlformats.org/drawingml/2006/main">
            <a:off x="1666875" y="1838325"/>
            <a:ext cx="11811000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FAF7DE97-3188-4C15-B3A0-83F97A1C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85E8F-03DF-4BE2-B929-A807792D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362C5-6FC3-4CF6-8E83-EE3407B7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82CE5-7651-4FB6-B164-14F18DC3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常见文档与表格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F9C77E96-3842-4B00-9E5E-6B80DFB1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D0174-6146-4F44-80AF-2750AC78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85006-DFDF-47F0-BCD9-6BB8C20A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AF28B-9465-4B1C-A161-A6F712D0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适合少量、一次性材料</a:t>
            </a:r>
          </a:p>
        </p:txBody>
      </p:sp>
    </p:spTree>
    <p:extLst>
      <p:ext uri="{BB962C8B-B14F-4D97-AF65-F5344CB8AC3E}">
        <p14:creationId xmlns:p14="http://schemas.microsoft.com/office/powerpoint/2010/main" val="1485091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54C03D1-F47F-4B36-936C-01616A56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10 · 首页引用知识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B5E604-DF20-4A15-B3AE-C48F1CA1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从知识中心选择已处理文件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2AB51-3F14-4FF5-8FFC-4DAD5882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36703-966E-43A8-AC7E-E6EE73A0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11 / 22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4149A100-1835-4EC7-BEC8-282AF61B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82cb6181e467b"/>
          <a:stretch xmlns:a="http://schemas.openxmlformats.org/drawingml/2006/main"/>
        </p:blipFill>
        <p:spPr>
          <a:xfrm xmlns:a="http://schemas.openxmlformats.org/drawingml/2006/main">
            <a:off x="1666875" y="1838325"/>
            <a:ext cx="11811000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F194AB23-FAAB-4C79-8C75-B8C00AE5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955D5-4DB4-40A7-80FE-7C5C9974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6BD1C-9BA3-4160-B3BB-3906CD6F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1E7B3-607A-4A4C-AB93-2E08F6F9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按文档名搜索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42ECAAA1-6B59-441E-8727-BF86C9F8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B88CC-80CD-4BFA-9212-10DEE508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F7292-A3F1-40AB-8CA2-F0FD31BF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74D8E-A984-4F14-ADA7-EE854A73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选择空间与知识库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A184F002-9715-4767-9B0A-880B2576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3F889-1852-48E2-9C54-FA5DFA2E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2F393-B279-4377-B63B-9A30AAB8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5AC7A-0565-4EA0-B1BD-7B957EB4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检查处理状态与权限</a:t>
            </a:r>
          </a:p>
        </p:txBody>
      </p:sp>
    </p:spTree>
    <p:extLst>
      <p:ext uri="{BB962C8B-B14F-4D97-AF65-F5344CB8AC3E}">
        <p14:creationId xmlns:p14="http://schemas.microsoft.com/office/powerpoint/2010/main" val="13384106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63D0F96F-59D6-41C4-8041-11418CE5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11 · 知识中心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DA9814-3338-427B-9867-6091DA5A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组织知识库、文件与问答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45CB5-42BB-475A-9286-46E017A9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273F1-7F29-4056-B736-1DFF112D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12 / 22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082BB14A-4B4B-4D8C-947A-18843916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97f5a3039482c"/>
          <a:stretch xmlns:a="http://schemas.openxmlformats.org/drawingml/2006/main"/>
        </p:blipFill>
        <p:spPr>
          <a:xfrm xmlns:a="http://schemas.openxmlformats.org/drawingml/2006/main">
            <a:off x="1666875" y="1838325"/>
            <a:ext cx="11811000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CC00E594-B3D5-4E95-A4AD-6C4DF10D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B8E79-A5EE-4DCD-9AED-0A90BEC0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189B0-DE7D-4023-837A-6CBF325F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68210-B0E1-4EE5-811E-965FC1F0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上传文件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A9D3FECD-ACB5-4C25-A84D-A3CC190B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1822B-CE3F-4C7C-9E03-EE7EFE4A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FF953-0234-462E-958F-19E8E900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07C59-E133-470B-A645-846C6E0C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新建文件夹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6767DEA9-004F-4929-ADCB-29F90D86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72C0E-76FA-414B-8E5E-901EA697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4454C-9A86-457E-B41C-9E64EDBF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0FC2C-A7E8-4C87-AA73-E6D91DB8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小智问答</a:t>
            </a:r>
          </a:p>
        </p:txBody>
      </p:sp>
    </p:spTree>
    <p:extLst>
      <p:ext uri="{BB962C8B-B14F-4D97-AF65-F5344CB8AC3E}">
        <p14:creationId xmlns:p14="http://schemas.microsoft.com/office/powerpoint/2010/main" val="5070583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840062CE-9A1D-4227-8F15-743F6DF3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12 · 知识处理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3C9AEB-36DF-4EB2-A0FA-0249C486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等待“处理成功”再引用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3CD6B-6843-48F2-A9CA-BE586C5D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F4204-996A-4A8E-A91B-C501FA3A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13 / 22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5F269C99-5C95-4932-9723-D65995B9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925ca61384167"/>
          <a:stretch xmlns:a="http://schemas.openxmlformats.org/drawingml/2006/main"/>
        </p:blipFill>
        <p:spPr>
          <a:xfrm xmlns:a="http://schemas.openxmlformats.org/drawingml/2006/main">
            <a:off x="1666875" y="1838325"/>
            <a:ext cx="11811000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86509AF1-340A-44D2-90DA-19E2B934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5C3D9-536D-45B5-9248-BF542B34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D6FEC-12AE-4139-A537-09CDE42E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19157-F9F2-4E8A-AEE5-9DD61244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上传完成 ≠ 解析完成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CCC1CFB0-4417-43B8-9010-B0DB6A25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26039-3067-4FEC-BE46-48AAFD50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2D3FD-0495-435A-8E52-E35217D4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52486-4C58-468B-B4FC-F90B1D86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处理成功后再问答或引用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FF5D7F35-798C-4684-8E29-60681998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1279F5-6E61-457A-81D8-4086EE5B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93E0D-7B05-454B-A5F5-437A5DCE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84CDEF-4798-48BE-8A4E-6DFB3729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重要数字回查原文件</a:t>
            </a:r>
          </a:p>
        </p:txBody>
      </p:sp>
    </p:spTree>
    <p:extLst>
      <p:ext uri="{BB962C8B-B14F-4D97-AF65-F5344CB8AC3E}">
        <p14:creationId xmlns:p14="http://schemas.microsoft.com/office/powerpoint/2010/main" val="20847396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BC8B9867-9438-47E3-8261-B6E3F99C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13 · 知识上传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8BF0593-6F0D-4E82-85BA-F680DFAB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复用材料：单文件 ≤50MB，单次最多 100 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C7F38-EB53-40AD-B9E3-36BB5FC8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956B4-8903-420D-A744-7D99617D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14 / 22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354F9681-D871-4BF8-8B5A-671A1371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cb766c0b74592"/>
          <a:stretch xmlns:a="http://schemas.openxmlformats.org/drawingml/2006/main"/>
        </p:blipFill>
        <p:spPr>
          <a:xfrm xmlns:a="http://schemas.openxmlformats.org/drawingml/2006/main">
            <a:off x="1666875" y="1838325"/>
            <a:ext cx="11811000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60DF9EFA-BEDD-4466-861A-367BE404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26A33-F07F-4AAA-B34E-D65F3719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2C1BA-8B85-4A12-BA95-E8C3304F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8F7E7-3EDC-4103-8A9D-B895F3E4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另支持 csv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4C539084-4630-4A1B-8E42-E30023D7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6AF0B-40E6-46E3-9D26-21B46393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0624D-05A6-4FAA-8386-70646D6F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91847-8E79-49DE-B324-9A824AF6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选择正确知识库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1B47F51F-063B-4EC4-95C8-7D78A03D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977A3-D508-4C4B-B1EC-0BB7DD00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D3B0E-99A7-4A69-AE4F-3FADD447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0595D-A177-408E-89DF-F42B36BA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等待处理成功</a:t>
            </a:r>
          </a:p>
        </p:txBody>
      </p:sp>
    </p:spTree>
    <p:extLst>
      <p:ext uri="{BB962C8B-B14F-4D97-AF65-F5344CB8AC3E}">
        <p14:creationId xmlns:p14="http://schemas.microsoft.com/office/powerpoint/2010/main" val="9369320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E0BCA526-F29F-45D3-89B5-6EADB2E2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14 · 仪表盘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6EC940E-9887-4920-BBFA-BBC9F227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先定范围，再读当前值 / 同比 / 环比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9BA83-8B0A-4A8F-896E-6A77A98C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0FAD8-03A0-4B30-84A2-33FE96B2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15 / 22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C7B2540C-2256-40F8-83E3-57052B22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808ae37394177"/>
          <a:stretch xmlns:a="http://schemas.openxmlformats.org/drawingml/2006/main"/>
        </p:blipFill>
        <p:spPr>
          <a:xfrm xmlns:a="http://schemas.openxmlformats.org/drawingml/2006/main">
            <a:off x="1666875" y="1838325"/>
            <a:ext cx="11811000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8D45AC34-A803-4F79-9E5A-7603FC43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BCDB2-9134-4924-ADF4-E5BC9EEB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48CF9-39C6-4EF0-9036-3282D4CF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4DDD3-D733-4A58-986F-514F7890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事业部筛选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9126D0C2-68A3-4F31-8FD0-2D5E811E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6A96C-6441-4C59-B648-9A9BD460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84451-7445-418A-87D6-3ED80F2A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C97F7-DC91-44E1-91EC-AD2554EC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快捷或自定义时间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E1E662B6-F690-4128-B28A-6BC459AC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840E5-0213-45B0-B6FA-7DFF317E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894BE-9FCE-4527-9D4C-3EEAA91B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4B06D-6BFB-403E-AAD5-ACEE97E1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指标卡展示趋势</a:t>
            </a:r>
          </a:p>
        </p:txBody>
      </p:sp>
    </p:spTree>
    <p:extLst>
      <p:ext uri="{BB962C8B-B14F-4D97-AF65-F5344CB8AC3E}">
        <p14:creationId xmlns:p14="http://schemas.microsoft.com/office/powerpoint/2010/main" val="4604484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EC7ECAF-5880-4962-B8DB-DCA95904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15 · 指标配置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A126AF6-9C9D-4B8F-9D92-3A496231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15 项指标：利润 4 + 销售 4 + 成本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FA48E-B9F6-4040-8E78-487CEBDB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57693-F167-46BE-9F03-8337D463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16 / 22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0EDDF247-9EAF-4456-8915-B417A4AF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0003c1bb04ae8"/>
          <a:stretch xmlns:a="http://schemas.openxmlformats.org/drawingml/2006/main"/>
        </p:blipFill>
        <p:spPr>
          <a:xfrm xmlns:a="http://schemas.openxmlformats.org/drawingml/2006/main">
            <a:off x="1666875" y="1838325"/>
            <a:ext cx="11811000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4681003E-9AAB-46A4-988C-36EB2F70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BF8CF-C0F4-4380-A2C0-5CB608EE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DC15E-F79A-4060-9FAB-E851263D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77F7C-B663-4A4C-8542-F06057EB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利润指标 4项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1EC21B49-A901-49E3-95F3-7746B5A8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B23F7-0F04-4148-90D0-E5050B69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F3F9E-FBDF-40DF-B09A-B469818D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11D7B-BA2B-44BF-BA95-C483910C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销售规模 4项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97CAEBD0-322E-4C64-9E5F-9C608618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1F652-CD38-429E-BCE0-A54D81A7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E39F25-D4AF-4637-9618-7FDEF174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A7D56-3619-4ECC-BBC0-7FD053F8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成本控制 7项</a:t>
            </a:r>
          </a:p>
        </p:txBody>
      </p:sp>
    </p:spTree>
    <p:extLst>
      <p:ext uri="{BB962C8B-B14F-4D97-AF65-F5344CB8AC3E}">
        <p14:creationId xmlns:p14="http://schemas.microsoft.com/office/powerpoint/2010/main" val="7543941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6A57126F-7EC8-467A-8AF3-FC93653D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16 · 工作台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A441C2-64C0-4A58-A7F9-A753102C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内部系统统一入口，随权限展示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36CA8-41C7-48F8-BBC8-7FAC4EEA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C5CF9-4A2E-4789-A701-926C63C4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17 / 22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E85D5A27-AD27-4FE2-BB3F-B2456B25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c9c32578945a5"/>
          <a:stretch xmlns:a="http://schemas.openxmlformats.org/drawingml/2006/main"/>
        </p:blipFill>
        <p:spPr>
          <a:xfrm xmlns:a="http://schemas.openxmlformats.org/drawingml/2006/main">
            <a:off x="1666875" y="1838325"/>
            <a:ext cx="11811000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A45661A4-B471-4CC0-909A-48BB4A08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2688A-3A42-4D82-9E82-A8C928E4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6CA92-43BA-4DE3-9A4A-1D2A8B49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0F940-F839-43E0-BF3F-D09336F4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搜索系统入口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0A08D702-6E4D-4420-9F8F-203126FD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D777B-D623-403C-A27F-5988FA73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D3500-CBDD-4713-B9B2-423DCD90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5CCEB-4DD7-470E-8EA2-2AA3AA36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本次实测显示10个系统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A0678695-FCE8-4C8E-8370-651F7B32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F8409-C517-4E1D-ADE2-83391141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E9ECA-D095-4FAD-A75D-D857B996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0180F-9C8E-4891-AC78-09E4A4D9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不同账号列表可能不同</a:t>
            </a:r>
          </a:p>
        </p:txBody>
      </p:sp>
    </p:spTree>
    <p:extLst>
      <p:ext uri="{BB962C8B-B14F-4D97-AF65-F5344CB8AC3E}">
        <p14:creationId xmlns:p14="http://schemas.microsoft.com/office/powerpoint/2010/main" val="20822399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EEC85EA6-0545-4A90-BF89-8A2727AB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17 · 模块耦合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6CE0E4D-CA11-4B59-A30E-B03301E7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知识中心 → 首页对话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3C5F9-4589-4F25-BD1C-2D5F9A46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917F9-B647-4AA6-963E-267580DC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18 / 22</a:t>
            </a:r>
          </a:p>
        </p:txBody>
      </p:sp>
      <p:sp>
        <p:nvSpPr>
          <p:cNvPr id="5" name="flow-1">
            <a:extLst xmlns:a="http://schemas.openxmlformats.org/drawingml/2006/main">
              <a:ext uri="{FF2B5EF4-FFF2-40B4-BE49-F238E27FC236}">
                <a16:creationId xmlns:a16="http://schemas.microsoft.com/office/drawing/2014/main" id="{0CCCDB18-DA72-489D-98AD-C2418879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DE308-158B-4F13-813C-FB0E8E76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147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7FF"/>
                </a:solidFill>
              </a:defRPr>
            </a:pPr>
            <a:r>
              <a:rPr sz="2250" b="1">
                <a:solidFill>
                  <a:srgbClr val="1677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53A1D-B41D-42A5-B50F-95A866B9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338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上传到知识库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472DC-C3A9-44BA-8A20-DB2FCEE8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00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7FF"/>
                </a:solidFill>
              </a:defRPr>
            </a:pPr>
            <a:r>
              <a:rPr sz="255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9" name="flow-2">
            <a:extLst xmlns:a="http://schemas.openxmlformats.org/drawingml/2006/main">
              <a:ext uri="{FF2B5EF4-FFF2-40B4-BE49-F238E27FC236}">
                <a16:creationId xmlns:a16="http://schemas.microsoft.com/office/drawing/2014/main" id="{6D61A0C6-2148-436C-8DCD-78CEAFE9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290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5BB70-E86B-4AA8-8F04-801A4F02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7FF"/>
                </a:solidFill>
              </a:defRPr>
            </a:pPr>
            <a:r>
              <a:rPr sz="2250" b="1">
                <a:solidFill>
                  <a:srgbClr val="1677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7330F-3767-4D69-B3C7-73006032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338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等待处理成功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6557B-34BE-4459-9005-635EFD82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00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7FF"/>
                </a:solidFill>
              </a:defRPr>
            </a:pPr>
            <a:r>
              <a:rPr sz="255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13" name="flow-3">
            <a:extLst xmlns:a="http://schemas.openxmlformats.org/drawingml/2006/main">
              <a:ext uri="{FF2B5EF4-FFF2-40B4-BE49-F238E27FC236}">
                <a16:creationId xmlns:a16="http://schemas.microsoft.com/office/drawing/2014/main" id="{1FEA51A9-50F3-4D2D-BFF6-C1125158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290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F5255-447E-4DA6-AE1C-9CAFB0D7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147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7FF"/>
                </a:solidFill>
              </a:defRPr>
            </a:pPr>
            <a:r>
              <a:rPr sz="2250" b="1">
                <a:solidFill>
                  <a:srgbClr val="1677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81079-8FCC-4A75-B3D4-52AD21ED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338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首页引用知识文件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C85AA-B141-48A4-929A-86EA5FFB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000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7FF"/>
                </a:solidFill>
              </a:defRPr>
            </a:pPr>
            <a:r>
              <a:rPr sz="255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17" name="flow-4">
            <a:extLst xmlns:a="http://schemas.openxmlformats.org/drawingml/2006/main">
              <a:ext uri="{FF2B5EF4-FFF2-40B4-BE49-F238E27FC236}">
                <a16:creationId xmlns:a16="http://schemas.microsoft.com/office/drawing/2014/main" id="{8F60B954-4542-40AA-A58C-8A2B2FB0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4290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16C59-F13F-45E2-B2E2-8199839D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7147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7FF"/>
                </a:solidFill>
              </a:defRPr>
            </a:pPr>
            <a:r>
              <a:rPr sz="2250" b="1">
                <a:solidFill>
                  <a:srgbClr val="1677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7B1B7-6F04-435D-AF01-98CD9C4B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3338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选择模式或专家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ED534-6450-4EF5-94F7-FC0EFD1B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4000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7FF"/>
                </a:solidFill>
              </a:defRPr>
            </a:pPr>
            <a:r>
              <a:rPr sz="255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21" name="flow-5">
            <a:extLst xmlns:a="http://schemas.openxmlformats.org/drawingml/2006/main">
              <a:ext uri="{FF2B5EF4-FFF2-40B4-BE49-F238E27FC236}">
                <a16:creationId xmlns:a16="http://schemas.microsoft.com/office/drawing/2014/main" id="{2CC316B2-C79A-4509-B613-C38F6111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34290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1F4076-E088-4EC8-B547-5C6DF1E3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37147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7FF"/>
                </a:solidFill>
              </a:defRPr>
            </a:pPr>
            <a:r>
              <a:rPr sz="2250" b="1">
                <a:solidFill>
                  <a:srgbClr val="1677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2367B9-4EC5-48EE-AB25-6880178D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43338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提问并人工复核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904F7-CC97-4328-B371-AB497831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1912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77FF"/>
                </a:solidFill>
              </a:defRPr>
            </a:pPr>
            <a:r>
              <a:rPr sz="1950" b="1">
                <a:solidFill>
                  <a:srgbClr val="1677FF"/>
                </a:solidFill>
              </a:rPr>
              <a:t>较大 / 复用材料优先走知识中心；处理成功后再引用</a:t>
            </a:r>
          </a:p>
        </p:txBody>
      </p:sp>
    </p:spTree>
    <p:extLst>
      <p:ext uri="{BB962C8B-B14F-4D97-AF65-F5344CB8AC3E}">
        <p14:creationId xmlns:p14="http://schemas.microsoft.com/office/powerpoint/2010/main" val="637503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kicker">
            <a:extLst xmlns:a="http://schemas.openxmlformats.org/drawingml/2006/main">
              <a:ext uri="{FF2B5EF4-FFF2-40B4-BE49-F238E27FC236}">
                <a16:creationId xmlns:a16="http://schemas.microsoft.com/office/drawing/2014/main" id="{8E9B348D-D1C7-4420-B266-FB379524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18 · 两条材料路径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47D390-0E12-4D5F-AF3A-39672823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按任务场景选择，不要混淆限额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9B480-D534-4E66-9476-2CA66B57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47B01-2D8C-413E-B834-56688888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19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045C9-70D5-4FD6-90C2-98522ADB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819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0EEA4-298C-41BE-AB84-AB485B43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43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DDF19-ADED-440A-9CE8-5ECAABC3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4286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5EEFC-B3B5-4750-AFD0-27219695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81300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格式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0DC6B-A075-4B92-8ECA-89432284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AE8F6-2248-4C1B-B648-B785AD3D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单文件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7A3F5-4528-4B5C-8D3E-84444D78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717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B6B1E-EB7D-40EB-98F3-4A0AB8B0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813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单次数量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0B7AE-7BEF-46FE-A864-B8751758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571750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61E6F-9728-4DA5-9DD3-10D92C7B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27813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适用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4DD99-6DDA-4583-92A5-E9EB9222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8194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D1C69-84CD-4A8E-B4DE-2E296EC0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首页直接附件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DE9308-EF5B-47DC-B9FE-811F3EB2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4286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0DCA0-711D-4F1D-883F-E2D4798F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1475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pdf/doc/docx/xls/xlsx/txt/md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309DC-5159-48A6-944F-AA628EB5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173E5E-148C-4D2D-ADA8-3B5191A5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≤10MB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6B0D5F-038C-403C-8724-AACCA03E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3375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18DA6-FF5B-4009-BC08-7E1B4B23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147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最多3个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469982-C886-40A8-82D7-F7DD2005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333750"/>
            <a:ext cx="3333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A226B9-23C4-421D-87A7-E05C6583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7147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临时、少量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42F77F-32EF-4D97-8007-26746A9E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28194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5D6AE5-0C56-46F3-B4A4-D3D77879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知识中心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C104F1-6EB0-4218-BF5A-CD1083D0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67250"/>
            <a:ext cx="4286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5B2780-956E-49A1-B70E-61D90665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4825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另支持 csv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5F061E-8C26-4E71-AF59-39920002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DB08AE-CD00-4B88-B98D-AEBBB3E9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≤50MB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C821EA-B8E5-4D17-87AE-F5D3F4DF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66725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7EB1E-3E9A-463A-85F8-86778235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0482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最多100个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44C6E0-AF41-4301-A4E2-0B146137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667250"/>
            <a:ext cx="3333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9351FE-8DD7-4DED-B9CB-E8BEAA39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482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较大、复用</a:t>
            </a:r>
          </a:p>
        </p:txBody>
      </p:sp>
    </p:spTree>
    <p:extLst>
      <p:ext uri="{BB962C8B-B14F-4D97-AF65-F5344CB8AC3E}">
        <p14:creationId xmlns:p14="http://schemas.microsoft.com/office/powerpoint/2010/main" val="14156460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0163E12C-1DF8-4AC9-8269-B732F8BE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19 · 能力边界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25907A-E1F9-4A4C-BC2A-544163D7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AI 是辅助，不是免责替代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264BB-0260-4EAC-85A4-6987A618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ACF48-E32E-41DD-9CFA-B5EBE9F1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20 / 22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973131B9-CB2B-45C0-9A8D-A87E11A0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B604A-7AA4-44FC-A309-A574AE9A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C25BD-AAC5-48B2-9079-1F810762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46EFD-9A71-4801-97B8-9E35B680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可能错误或遗漏：重要结论回查来源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59BFE827-4AE9-41C9-80AA-704827A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C8CEC-407F-4A74-AEDB-D9C9F796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D4D83-F0AC-4C58-A0F9-0B194E7D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F3B10-8380-4899-A62C-C7D6BACC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没有提供或授权的数据不会自动获得</a:t>
            </a:r>
          </a:p>
        </p:txBody>
      </p:sp>
      <p:sp>
        <p:nvSpPr>
          <p:cNvPr id="13" name="card-3">
            <a:extLst xmlns:a="http://schemas.openxmlformats.org/drawingml/2006/main">
              <a:ext uri="{FF2B5EF4-FFF2-40B4-BE49-F238E27FC236}">
                <a16:creationId xmlns:a16="http://schemas.microsoft.com/office/drawing/2014/main" id="{6C368531-A523-4FD1-BB95-D0967F2B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37196-BF7F-48EA-8ECF-72F9B4CB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F9452-5E09-4C71-917E-47979DB2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7E56D-B3B5-4036-9DE7-0CF6E35A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外部发送、审批、下单前必须人工确认</a:t>
            </a:r>
          </a:p>
        </p:txBody>
      </p:sp>
    </p:spTree>
    <p:extLst>
      <p:ext uri="{BB962C8B-B14F-4D97-AF65-F5344CB8AC3E}">
        <p14:creationId xmlns:p14="http://schemas.microsoft.com/office/powerpoint/2010/main" val="16596555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1F2F0F19-B597-41B1-B4E9-CD08E97D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20 · V1 共建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A2B57A9-72BA-4D46-B90D-8FA71186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问题反馈：点击入口，跳转钉钉填写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7708D-8F22-4042-B214-DE4F365D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2FA98-8B2D-4FA1-9713-2E03E9EA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21 / 22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2CBF2ED6-E495-49FF-AD18-21571E43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61F5C-54AF-4459-BA54-01088375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F54F5-7911-491F-ABB4-32F81E45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03AE6-D71F-497B-930A-CADA16F5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671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点击平台“问题反馈”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F8BCFDBB-4F09-41B6-A016-09146B0A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B4EDE-B9BC-477C-B4F3-989706BD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6E248-8312-45E8-B2D4-6DB1B0F3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BF6D7-786A-4530-B054-7ED17327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671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跳转钉钉链接</a:t>
            </a:r>
          </a:p>
        </p:txBody>
      </p:sp>
      <p:sp>
        <p:nvSpPr>
          <p:cNvPr id="13" name="card-3">
            <a:extLst xmlns:a="http://schemas.openxmlformats.org/drawingml/2006/main">
              <a:ext uri="{FF2B5EF4-FFF2-40B4-BE49-F238E27FC236}">
                <a16:creationId xmlns:a16="http://schemas.microsoft.com/office/drawing/2014/main" id="{0BD8EC92-2E81-4D22-B46A-4742594B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AEE8B5-CE12-4EF2-9C6E-D9720A79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C59C3-AF0B-4510-A3A0-5EFBED5B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38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648B5-A13C-41BF-80EA-07213067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43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填写场景 / 步骤 / 期望与实际</a:t>
            </a:r>
          </a:p>
        </p:txBody>
      </p:sp>
      <p:sp>
        <p:nvSpPr>
          <p:cNvPr id="17" name="card-4">
            <a:extLst xmlns:a="http://schemas.openxmlformats.org/drawingml/2006/main">
              <a:ext uri="{FF2B5EF4-FFF2-40B4-BE49-F238E27FC236}">
                <a16:creationId xmlns:a16="http://schemas.microsoft.com/office/drawing/2014/main" id="{070A159C-4E10-49CE-B222-E8E47681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340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082EB-8605-406E-89A8-9C477186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340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FE4BF2-7006-4627-8F1D-20E9CAF3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38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A91D2A-12E0-44C5-BDAD-6B1122DD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43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附脱敏截图、时间与影响</a:t>
            </a:r>
          </a:p>
        </p:txBody>
      </p:sp>
    </p:spTree>
    <p:extLst>
      <p:ext uri="{BB962C8B-B14F-4D97-AF65-F5344CB8AC3E}">
        <p14:creationId xmlns:p14="http://schemas.microsoft.com/office/powerpoint/2010/main" val="15669913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E92B6194-8A51-44C0-A299-EF08434B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21 · QA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92A4B7-90AC-45A8-986E-B7CE12B6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问题与讨论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2A10A-6CBA-4B85-A09C-A5158A97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96655-F0BF-4B69-A040-A3417352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22 / 22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FF945221-02AE-402B-9844-BED242E0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2ED0A-C5EC-4DD0-B02E-3F31FC94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C689C-A816-4B60-AA1C-4330A685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B7EEB-1D94-4D08-9002-82AC02F5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671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为什么选不到知识文件？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DC50B240-6A49-4576-83A5-8D7C8FBF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AF7C4-D93D-4BFC-8B6A-1A417915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0C621-0DC7-432E-809F-383FAD44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E2461-1673-402D-8157-C7846BF4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671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什么时候用专家模式？</a:t>
            </a:r>
          </a:p>
        </p:txBody>
      </p:sp>
      <p:sp>
        <p:nvSpPr>
          <p:cNvPr id="13" name="card-3">
            <a:extLst xmlns:a="http://schemas.openxmlformats.org/drawingml/2006/main">
              <a:ext uri="{FF2B5EF4-FFF2-40B4-BE49-F238E27FC236}">
                <a16:creationId xmlns:a16="http://schemas.microsoft.com/office/drawing/2014/main" id="{213354DA-4E0D-4BAE-A1EA-2F5BA552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B71DA-6BC7-4443-BDF5-744E1496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37AF3-7C86-4A3E-B796-0B7ABB8D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38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FF042-3B8C-46B7-8ACC-53187862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43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仪表盘指标怎么看？</a:t>
            </a:r>
          </a:p>
        </p:txBody>
      </p:sp>
      <p:sp>
        <p:nvSpPr>
          <p:cNvPr id="17" name="card-4">
            <a:extLst xmlns:a="http://schemas.openxmlformats.org/drawingml/2006/main">
              <a:ext uri="{FF2B5EF4-FFF2-40B4-BE49-F238E27FC236}">
                <a16:creationId xmlns:a16="http://schemas.microsoft.com/office/drawing/2014/main" id="{B821165A-4C59-47B5-ADB4-8593CAC5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340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BC20A-D4AC-4D50-B97C-1FAC6AAB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340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3E3A4-01A1-425D-8431-EABE071D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38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C2413-A2D6-4ECA-A43C-60093544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43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为什么工作台入口不同？</a:t>
            </a:r>
          </a:p>
        </p:txBody>
      </p:sp>
    </p:spTree>
    <p:extLst>
      <p:ext uri="{BB962C8B-B14F-4D97-AF65-F5344CB8AC3E}">
        <p14:creationId xmlns:p14="http://schemas.microsoft.com/office/powerpoint/2010/main" val="541994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2026-08-04T06:47:21.0780000Z</dcterms:created>
  <dcterms:modified xsi:type="dcterms:W3CDTF">2026-08-04T06:47:21.0780000Z</dcterms:modified>
</coreProperties>
</file>